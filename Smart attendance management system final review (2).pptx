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5" r:id="rId4"/>
  </p:sldMasterIdLst>
  <p:notesMasterIdLst>
    <p:notesMasterId r:id="rId32"/>
  </p:notesMasterIdLst>
  <p:sldIdLst>
    <p:sldId id="293" r:id="rId5"/>
    <p:sldId id="292" r:id="rId6"/>
    <p:sldId id="291" r:id="rId7"/>
    <p:sldId id="261" r:id="rId8"/>
    <p:sldId id="288" r:id="rId9"/>
    <p:sldId id="289" r:id="rId10"/>
    <p:sldId id="290" r:id="rId11"/>
    <p:sldId id="268" r:id="rId12"/>
    <p:sldId id="269" r:id="rId13"/>
    <p:sldId id="262" r:id="rId14"/>
    <p:sldId id="264" r:id="rId15"/>
    <p:sldId id="265" r:id="rId16"/>
    <p:sldId id="266" r:id="rId17"/>
    <p:sldId id="267" r:id="rId18"/>
    <p:sldId id="270" r:id="rId19"/>
    <p:sldId id="273" r:id="rId20"/>
    <p:sldId id="276" r:id="rId21"/>
    <p:sldId id="277" r:id="rId22"/>
    <p:sldId id="279" r:id="rId23"/>
    <p:sldId id="280" r:id="rId24"/>
    <p:sldId id="282" r:id="rId25"/>
    <p:sldId id="283" r:id="rId26"/>
    <p:sldId id="284" r:id="rId27"/>
    <p:sldId id="286" r:id="rId28"/>
    <p:sldId id="285" r:id="rId29"/>
    <p:sldId id="287" r:id="rId30"/>
    <p:sldId id="263"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362E45EF-1391-40C0-8874-5F40FF92280A}">
          <p14:sldIdLst>
            <p14:sldId id="261"/>
            <p14:sldId id="288"/>
            <p14:sldId id="289"/>
            <p14:sldId id="290"/>
            <p14:sldId id="268"/>
            <p14:sldId id="269"/>
            <p14:sldId id="262"/>
            <p14:sldId id="264"/>
            <p14:sldId id="265"/>
            <p14:sldId id="266"/>
            <p14:sldId id="267"/>
            <p14:sldId id="270"/>
            <p14:sldId id="273"/>
            <p14:sldId id="276"/>
            <p14:sldId id="277"/>
            <p14:sldId id="279"/>
            <p14:sldId id="280"/>
            <p14:sldId id="282"/>
            <p14:sldId id="283"/>
            <p14:sldId id="284"/>
            <p14:sldId id="286"/>
            <p14:sldId id="285"/>
            <p14:sldId id="287"/>
            <p14:sldId id="263"/>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CF7F1"/>
    <a:srgbClr val="5CC6D6"/>
    <a:srgbClr val="344529"/>
    <a:srgbClr val="2B3922"/>
    <a:srgbClr val="2E3722"/>
    <a:srgbClr val="B8D233"/>
    <a:srgbClr val="F8D22F"/>
    <a:srgbClr val="F03F2B"/>
    <a:srgbClr val="3488A0"/>
    <a:srgbClr val="57903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19" autoAdjust="0"/>
  </p:normalViewPr>
  <p:slideViewPr>
    <p:cSldViewPr snapToGrid="0">
      <p:cViewPr>
        <p:scale>
          <a:sx n="69" d="100"/>
          <a:sy n="69" d="100"/>
        </p:scale>
        <p:origin x="-780" y="-19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F02031-2371-4D9C-BFF2-BF8418F8EEFC}" type="datetimeFigureOut">
              <a:rPr lang="en-IN" smtClean="0"/>
              <a:pPr/>
              <a:t>12-05-2022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3EF518-557A-4B80-91C6-63192953259D}" type="slidenum">
              <a:rPr lang="en-IN" smtClean="0"/>
              <a:pPr/>
              <a:t>‹#›</a:t>
            </a:fld>
            <a:endParaRPr lang="en-IN"/>
          </a:p>
        </p:txBody>
      </p:sp>
    </p:spTree>
    <p:extLst>
      <p:ext uri="{BB962C8B-B14F-4D97-AF65-F5344CB8AC3E}">
        <p14:creationId xmlns:p14="http://schemas.microsoft.com/office/powerpoint/2010/main" xmlns="" val="328077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0C0817-A112-4847-8014-A94B7D2A4EA3}"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4195159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1298830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646AA-F36E-4540-911D-FFFC0A0EF24A}"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107557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pPr/>
              <a:t>5/12/2022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3965105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pPr/>
              <a:t>5/12/2022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2609147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pPr/>
              <a:t>5/12/2022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115117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pPr/>
              <a:t>5/12/2022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2793933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8D12A6-918A-48BD-8CB9-CA713993B0EA}" type="datetime1">
              <a:rPr lang="en-US" smtClean="0"/>
              <a:pPr/>
              <a:t>5/12/2022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921801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5/12/2022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69983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265073139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xmlns="" val="112920482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202694904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00485850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231401973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FA2B21-3FCD-4721-B95C-427943F61125}"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28738895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FA2B21-3FCD-4721-B95C-427943F61125}" type="datetime1">
              <a:rPr lang="en-US" smtClean="0"/>
              <a:pPr/>
              <a:t>5/12/2022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352441413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6FA2B21-3FCD-4721-B95C-427943F61125}" type="datetime1">
              <a:rPr lang="en-US" smtClean="0"/>
              <a:pPr/>
              <a:t>5/12/2022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4B7E4EF-A1BD-40F4-AB7B-04F084DD991D}" type="slidenum">
              <a:rPr lang="en-US" smtClean="0"/>
              <a:pPr/>
              <a:t>‹#›</a:t>
            </a:fld>
            <a:endParaRPr lang="en-US" dirty="0"/>
          </a:p>
        </p:txBody>
      </p:sp>
    </p:spTree>
    <p:extLst>
      <p:ext uri="{BB962C8B-B14F-4D97-AF65-F5344CB8AC3E}">
        <p14:creationId xmlns:p14="http://schemas.microsoft.com/office/powerpoint/2010/main" xmlns="" val="2373717113"/>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5225DC-1744-4491-A1CA-0DE1803A9211}"/>
              </a:ext>
            </a:extLst>
          </p:cNvPr>
          <p:cNvSpPr>
            <a:spLocks noGrp="1"/>
          </p:cNvSpPr>
          <p:nvPr>
            <p:ph type="title"/>
          </p:nvPr>
        </p:nvSpPr>
        <p:spPr>
          <a:xfrm>
            <a:off x="1147427" y="3490692"/>
            <a:ext cx="9404723" cy="1400530"/>
          </a:xfrm>
        </p:spPr>
        <p:txBody>
          <a:bodyPr>
            <a:normAutofit fontScale="90000"/>
          </a:bodyPr>
          <a:lstStyle/>
          <a:p>
            <a:pPr algn="ctr"/>
            <a:r>
              <a:rPr lang="en-US" dirty="0">
                <a:solidFill>
                  <a:schemeClr val="tx1"/>
                </a:solidFill>
              </a:rPr>
              <a:t>P.B SIDDHARTHA COLLEGE OF ARTS AND SCIENCE</a:t>
            </a:r>
            <a:r>
              <a:rPr lang="en-US" dirty="0">
                <a:solidFill>
                  <a:srgbClr val="FFFF00"/>
                </a:solidFill>
              </a:rPr>
              <a:t/>
            </a:r>
            <a:br>
              <a:rPr lang="en-US" dirty="0">
                <a:solidFill>
                  <a:srgbClr val="FFFF00"/>
                </a:solidFill>
              </a:rPr>
            </a:br>
            <a:r>
              <a:rPr lang="en-US" dirty="0">
                <a:solidFill>
                  <a:srgbClr val="FF0000"/>
                </a:solidFill>
              </a:rPr>
              <a:t>DEPEARTMENT OF COMPUTER SCIENCE</a:t>
            </a:r>
          </a:p>
        </p:txBody>
      </p:sp>
      <p:pic>
        <p:nvPicPr>
          <p:cNvPr id="4" name="Picture 4" descr="Logo&#10;&#10;Description automatically generated">
            <a:extLst>
              <a:ext uri="{FF2B5EF4-FFF2-40B4-BE49-F238E27FC236}">
                <a16:creationId xmlns:a16="http://schemas.microsoft.com/office/drawing/2014/main" xmlns="" id="{EC094C02-28D6-4096-871E-FE9BD6EF1A99}"/>
              </a:ext>
            </a:extLst>
          </p:cNvPr>
          <p:cNvPicPr>
            <a:picLocks noGrp="1" noChangeAspect="1"/>
          </p:cNvPicPr>
          <p:nvPr>
            <p:ph idx="1"/>
          </p:nvPr>
        </p:nvPicPr>
        <p:blipFill>
          <a:blip r:embed="rId2"/>
          <a:stretch>
            <a:fillRect/>
          </a:stretch>
        </p:blipFill>
        <p:spPr>
          <a:xfrm>
            <a:off x="4371972" y="458186"/>
            <a:ext cx="2946100" cy="2740683"/>
          </a:xfrm>
        </p:spPr>
      </p:pic>
    </p:spTree>
    <p:extLst>
      <p:ext uri="{BB962C8B-B14F-4D97-AF65-F5344CB8AC3E}">
        <p14:creationId xmlns:p14="http://schemas.microsoft.com/office/powerpoint/2010/main" xmlns="" val="31553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5871" y="1474370"/>
            <a:ext cx="8825658" cy="3329581"/>
          </a:xfrm>
        </p:spPr>
        <p:txBody>
          <a:bodyPr/>
          <a:lstStyle/>
          <a:p>
            <a:pPr algn="ctr"/>
            <a:r>
              <a:rPr lang="en-US" sz="6000" dirty="0" smtClean="0">
                <a:solidFill>
                  <a:srgbClr val="FF0000"/>
                </a:solidFill>
                <a:latin typeface="Century"/>
              </a:rPr>
              <a:t>SMART ATTENDANCE MANAGEMENT SYSTEM</a:t>
            </a:r>
            <a:endParaRPr lang="en-US" sz="6000" dirty="0">
              <a:solidFill>
                <a:srgbClr val="FF0000"/>
              </a:solidFill>
              <a:latin typeface="Century"/>
            </a:endParaRPr>
          </a:p>
        </p:txBody>
      </p:sp>
      <p:sp>
        <p:nvSpPr>
          <p:cNvPr id="3" name="Subtitle 2"/>
          <p:cNvSpPr>
            <a:spLocks noGrp="1"/>
          </p:cNvSpPr>
          <p:nvPr>
            <p:ph type="subTitle" idx="1"/>
          </p:nvPr>
        </p:nvSpPr>
        <p:spPr>
          <a:xfrm>
            <a:off x="3190435" y="3514339"/>
            <a:ext cx="8825658" cy="861420"/>
          </a:xfrm>
        </p:spPr>
        <p:txBody>
          <a:bodyPr>
            <a:normAutofit/>
          </a:bodyPr>
          <a:lstStyle/>
          <a:p>
            <a:r>
              <a:rPr lang="en-US" sz="2800" dirty="0" smtClean="0">
                <a:solidFill>
                  <a:srgbClr val="FF0000"/>
                </a:solidFill>
              </a:rPr>
              <a:t>.</a:t>
            </a:r>
            <a:endParaRPr lang="en-US" sz="2800" dirty="0">
              <a:solidFill>
                <a:srgbClr val="FF0000"/>
              </a:solidFill>
            </a:endParaRPr>
          </a:p>
        </p:txBody>
      </p:sp>
    </p:spTree>
    <p:extLst>
      <p:ext uri="{BB962C8B-B14F-4D97-AF65-F5344CB8AC3E}">
        <p14:creationId xmlns:p14="http://schemas.microsoft.com/office/powerpoint/2010/main" xmlns=""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8B6319-3C40-4E4C-A9B7-4DCFF42DC84C}"/>
              </a:ext>
            </a:extLst>
          </p:cNvPr>
          <p:cNvSpPr>
            <a:spLocks noGrp="1"/>
          </p:cNvSpPr>
          <p:nvPr>
            <p:ph type="title"/>
          </p:nvPr>
        </p:nvSpPr>
        <p:spPr/>
        <p:txBody>
          <a:bodyPr>
            <a:normAutofit fontScale="90000"/>
          </a:bodyPr>
          <a:lstStyle/>
          <a:p>
            <a:r>
              <a:rPr lang="en-US" sz="3600" dirty="0">
                <a:solidFill>
                  <a:srgbClr val="FF0000"/>
                </a:solidFill>
              </a:rPr>
              <a:t>                   PROJECT </a:t>
            </a:r>
            <a:r>
              <a:rPr lang="en-US" sz="3600" dirty="0" smtClean="0">
                <a:solidFill>
                  <a:srgbClr val="FF0000"/>
                </a:solidFill>
              </a:rPr>
              <a:t>PRESENTATION</a:t>
            </a:r>
            <a:br>
              <a:rPr lang="en-US" sz="3600" dirty="0" smtClean="0">
                <a:solidFill>
                  <a:srgbClr val="FF0000"/>
                </a:solidFill>
              </a:rPr>
            </a:br>
            <a:r>
              <a:rPr lang="en-US" sz="3600" dirty="0" smtClean="0">
                <a:solidFill>
                  <a:srgbClr val="FF0000"/>
                </a:solidFill>
              </a:rPr>
              <a:t>    </a:t>
            </a:r>
            <a:r>
              <a:rPr lang="en-US" dirty="0" smtClean="0">
                <a:solidFill>
                  <a:srgbClr val="FF0000"/>
                </a:solidFill>
              </a:rPr>
              <a:t>SMART ATTENDANCE MANAGEMENT SYSTEM</a:t>
            </a:r>
            <a:endParaRPr lang="en-US" sz="3600" dirty="0">
              <a:solidFill>
                <a:srgbClr val="FF0000"/>
              </a:solidFill>
            </a:endParaRPr>
          </a:p>
        </p:txBody>
      </p:sp>
      <p:sp>
        <p:nvSpPr>
          <p:cNvPr id="3" name="Content Placeholder 2">
            <a:extLst>
              <a:ext uri="{FF2B5EF4-FFF2-40B4-BE49-F238E27FC236}">
                <a16:creationId xmlns:a16="http://schemas.microsoft.com/office/drawing/2014/main" xmlns="" id="{C89DA0D1-2610-4AF3-9E35-DE789AF8BE7D}"/>
              </a:ext>
            </a:extLst>
          </p:cNvPr>
          <p:cNvSpPr>
            <a:spLocks noGrp="1"/>
          </p:cNvSpPr>
          <p:nvPr>
            <p:ph idx="1"/>
          </p:nvPr>
        </p:nvSpPr>
        <p:spPr>
          <a:xfrm>
            <a:off x="642102" y="1150550"/>
            <a:ext cx="10109593" cy="5117901"/>
          </a:xfrm>
        </p:spPr>
        <p:txBody>
          <a:bodyPr vert="horz" lIns="91440" tIns="45720" rIns="91440" bIns="45720" rtlCol="0" anchor="t">
            <a:normAutofit/>
          </a:bodyPr>
          <a:lstStyle/>
          <a:p>
            <a:pPr marL="0" indent="0">
              <a:buNone/>
            </a:pPr>
            <a:r>
              <a:rPr lang="en-US" dirty="0"/>
              <a:t>               </a:t>
            </a:r>
            <a:endParaRPr lang="en-US" dirty="0" smtClean="0">
              <a:solidFill>
                <a:srgbClr val="FFFF00"/>
              </a:solidFill>
            </a:endParaRPr>
          </a:p>
          <a:p>
            <a:pPr marL="0" indent="0">
              <a:buNone/>
            </a:pPr>
            <a:endParaRPr lang="en-US" dirty="0"/>
          </a:p>
          <a:p>
            <a:pPr marL="0" indent="0">
              <a:buNone/>
            </a:pPr>
            <a:endParaRPr lang="en-US" dirty="0"/>
          </a:p>
          <a:p>
            <a:pPr marL="0" indent="0">
              <a:buNone/>
            </a:pPr>
            <a:endParaRPr lang="en-US" dirty="0"/>
          </a:p>
          <a:p>
            <a:pPr marL="0" indent="0">
              <a:buNone/>
            </a:pPr>
            <a:r>
              <a:rPr lang="en-US" dirty="0"/>
              <a:t>    UNDER THE GUIDANCE OF                                           SUBMITTED BY:</a:t>
            </a:r>
          </a:p>
          <a:p>
            <a:pPr marL="0" indent="0">
              <a:buNone/>
            </a:pPr>
            <a:r>
              <a:rPr lang="en-US" dirty="0"/>
              <a:t>    MR.K.VEERENDRANATH SIR                                  </a:t>
            </a:r>
            <a:r>
              <a:rPr lang="en-US" dirty="0" smtClean="0"/>
              <a:t>      </a:t>
            </a:r>
            <a:r>
              <a:rPr lang="en-US" dirty="0"/>
              <a:t> 1.SK. MOULALI           -194333</a:t>
            </a:r>
          </a:p>
          <a:p>
            <a:pPr marL="0" indent="0">
              <a:buNone/>
            </a:pPr>
            <a:r>
              <a:rPr lang="en-US" dirty="0"/>
              <a:t>                                                                                     2.K.HARISH                -194315</a:t>
            </a:r>
          </a:p>
          <a:p>
            <a:pPr marL="0" indent="0">
              <a:buNone/>
            </a:pPr>
            <a:r>
              <a:rPr lang="en-US" dirty="0"/>
              <a:t>                                                                                     3.T.SAI SRIKAR           -194337</a:t>
            </a:r>
          </a:p>
          <a:p>
            <a:pPr marL="0" indent="0">
              <a:buNone/>
            </a:pPr>
            <a:r>
              <a:rPr lang="en-US" dirty="0"/>
              <a:t>                                                                                     4.M.RAMAKRISHNA  </a:t>
            </a:r>
            <a:r>
              <a:rPr lang="en-US" dirty="0" smtClean="0"/>
              <a:t>   -</a:t>
            </a:r>
            <a:r>
              <a:rPr lang="en-US" dirty="0"/>
              <a:t>194361</a:t>
            </a:r>
          </a:p>
          <a:p>
            <a:pPr>
              <a:buClr>
                <a:srgbClr val="8AD0D6"/>
              </a:buClr>
            </a:pPr>
            <a:endParaRPr lang="en-US" dirty="0"/>
          </a:p>
          <a:p>
            <a:pPr>
              <a:buClr>
                <a:srgbClr val="8AD0D6"/>
              </a:buClr>
            </a:pPr>
            <a:endParaRPr lang="en-US" dirty="0"/>
          </a:p>
          <a:p>
            <a:pPr>
              <a:buClr>
                <a:srgbClr val="8AD0D6"/>
              </a:buClr>
            </a:pPr>
            <a:endParaRPr lang="en-US" dirty="0"/>
          </a:p>
          <a:p>
            <a:pPr>
              <a:buClr>
                <a:srgbClr val="8AD0D6"/>
              </a:buClr>
            </a:pPr>
            <a:endParaRPr lang="en-US" dirty="0"/>
          </a:p>
        </p:txBody>
      </p:sp>
    </p:spTree>
    <p:extLst>
      <p:ext uri="{BB962C8B-B14F-4D97-AF65-F5344CB8AC3E}">
        <p14:creationId xmlns:p14="http://schemas.microsoft.com/office/powerpoint/2010/main" xmlns="" val="707103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4919D0-F177-4BBA-9A0B-DBA69E2ED764}"/>
              </a:ext>
            </a:extLst>
          </p:cNvPr>
          <p:cNvSpPr>
            <a:spLocks noGrp="1"/>
          </p:cNvSpPr>
          <p:nvPr>
            <p:ph type="title"/>
          </p:nvPr>
        </p:nvSpPr>
        <p:spPr>
          <a:xfrm>
            <a:off x="677334" y="609600"/>
            <a:ext cx="8596668" cy="1320800"/>
          </a:xfrm>
        </p:spPr>
        <p:txBody>
          <a:bodyPr>
            <a:normAutofit/>
          </a:bodyPr>
          <a:lstStyle/>
          <a:p>
            <a:r>
              <a:rPr lang="en-US" dirty="0"/>
              <a:t>Contents</a:t>
            </a:r>
          </a:p>
        </p:txBody>
      </p:sp>
      <p:sp>
        <p:nvSpPr>
          <p:cNvPr id="4" name="Content Placeholder 3">
            <a:extLst>
              <a:ext uri="{FF2B5EF4-FFF2-40B4-BE49-F238E27FC236}">
                <a16:creationId xmlns="" xmlns:a16="http://schemas.microsoft.com/office/drawing/2014/main" id="{FD0EB11D-BE07-4921-84B6-8D258D9D63F4}"/>
              </a:ext>
            </a:extLst>
          </p:cNvPr>
          <p:cNvSpPr>
            <a:spLocks noGrp="1"/>
          </p:cNvSpPr>
          <p:nvPr>
            <p:ph idx="1"/>
          </p:nvPr>
        </p:nvSpPr>
        <p:spPr>
          <a:xfrm>
            <a:off x="4975668" y="1762473"/>
            <a:ext cx="6131310" cy="1914261"/>
          </a:xfrm>
        </p:spPr>
        <p:txBody>
          <a:bodyPr>
            <a:normAutofit/>
          </a:bodyPr>
          <a:lstStyle/>
          <a:p>
            <a:r>
              <a:rPr lang="en-US" sz="1600" b="1" dirty="0"/>
              <a:t>System Analysis:</a:t>
            </a:r>
          </a:p>
          <a:p>
            <a:pPr lvl="4"/>
            <a:r>
              <a:rPr kumimoji="0" lang="en-US" sz="16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SRS Document</a:t>
            </a:r>
            <a:endParaRPr lang="en-US" sz="400" dirty="0"/>
          </a:p>
          <a:p>
            <a:pPr lvl="4"/>
            <a:r>
              <a:rPr lang="en-US" sz="1600" dirty="0"/>
              <a:t>Functional Requirements</a:t>
            </a:r>
          </a:p>
          <a:p>
            <a:pPr lvl="4"/>
            <a:r>
              <a:rPr lang="en-US" sz="1600" dirty="0"/>
              <a:t>Non-Functional Requirements</a:t>
            </a:r>
          </a:p>
          <a:p>
            <a:pPr lvl="4"/>
            <a:r>
              <a:rPr lang="en-US" sz="1600" dirty="0"/>
              <a:t>Data Dictionary</a:t>
            </a:r>
          </a:p>
          <a:p>
            <a:pPr lvl="4"/>
            <a:endParaRPr lang="en-US" dirty="0"/>
          </a:p>
        </p:txBody>
      </p:sp>
      <p:sp>
        <p:nvSpPr>
          <p:cNvPr id="6" name="TextBox 5">
            <a:extLst>
              <a:ext uri="{FF2B5EF4-FFF2-40B4-BE49-F238E27FC236}">
                <a16:creationId xmlns="" xmlns:a16="http://schemas.microsoft.com/office/drawing/2014/main" id="{A8F6E396-0EA9-48FC-BDA4-1F1B40BDD6B8}"/>
              </a:ext>
            </a:extLst>
          </p:cNvPr>
          <p:cNvSpPr txBox="1"/>
          <p:nvPr/>
        </p:nvSpPr>
        <p:spPr>
          <a:xfrm>
            <a:off x="4953737" y="4138396"/>
            <a:ext cx="4320265" cy="2800767"/>
          </a:xfrm>
          <a:prstGeom prst="rect">
            <a:avLst/>
          </a:prstGeom>
          <a:noFill/>
        </p:spPr>
        <p:txBody>
          <a:bodyPr wrap="square" rtlCol="0">
            <a:spAutoFit/>
          </a:bodyPr>
          <a:lstStyle/>
          <a:p>
            <a:pPr marL="285750" indent="-285750">
              <a:buFont typeface="Wingdings" panose="05000000000000000000" pitchFamily="2" charset="2"/>
              <a:buChar char="Ø"/>
            </a:pPr>
            <a:r>
              <a:rPr lang="en-US" sz="1600" b="1" dirty="0"/>
              <a:t>System Design:</a:t>
            </a:r>
          </a:p>
          <a:p>
            <a:endParaRPr lang="en-IN" sz="1600" dirty="0"/>
          </a:p>
          <a:p>
            <a:pPr marL="1657350" lvl="3" indent="-285750">
              <a:buFont typeface="Wingdings" panose="05000000000000000000" pitchFamily="2" charset="2"/>
              <a:buChar char="Ø"/>
            </a:pPr>
            <a:r>
              <a:rPr lang="en-IN" sz="1600" dirty="0"/>
              <a:t> Use case Diagram</a:t>
            </a:r>
          </a:p>
          <a:p>
            <a:pPr marL="1657350" lvl="3" indent="-285750">
              <a:buFont typeface="Wingdings" panose="05000000000000000000" pitchFamily="2" charset="2"/>
              <a:buChar char="Ø"/>
            </a:pPr>
            <a:r>
              <a:rPr lang="en-IN" sz="1600" dirty="0"/>
              <a:t>Sequence Diagram</a:t>
            </a:r>
          </a:p>
          <a:p>
            <a:pPr marL="1657350" lvl="3" indent="-285750">
              <a:buFont typeface="Wingdings" panose="05000000000000000000" pitchFamily="2" charset="2"/>
              <a:buChar char="Ø"/>
            </a:pPr>
            <a:r>
              <a:rPr lang="en-IN" sz="1600" dirty="0"/>
              <a:t>Collaboration Diagram</a:t>
            </a:r>
          </a:p>
          <a:p>
            <a:pPr marL="1657350" lvl="3" indent="-285750">
              <a:buFont typeface="Wingdings" panose="05000000000000000000" pitchFamily="2" charset="2"/>
              <a:buChar char="Ø"/>
            </a:pPr>
            <a:r>
              <a:rPr lang="en-IN" sz="1600" dirty="0"/>
              <a:t>Class Diagram</a:t>
            </a:r>
          </a:p>
          <a:p>
            <a:pPr marL="1657350" lvl="3" indent="-285750">
              <a:buFont typeface="Wingdings" panose="05000000000000000000" pitchFamily="2" charset="2"/>
              <a:buChar char="Ø"/>
            </a:pPr>
            <a:r>
              <a:rPr lang="en-IN" sz="1600" dirty="0"/>
              <a:t>Activity Diagram</a:t>
            </a:r>
          </a:p>
          <a:p>
            <a:pPr lvl="3"/>
            <a:endParaRPr lang="en-IN" sz="1600" dirty="0"/>
          </a:p>
          <a:p>
            <a:pPr lvl="3"/>
            <a:endParaRPr lang="en-IN" sz="1600" dirty="0"/>
          </a:p>
          <a:p>
            <a:pPr lvl="3"/>
            <a:endParaRPr lang="en-IN" sz="1600" dirty="0"/>
          </a:p>
          <a:p>
            <a:pPr lvl="3"/>
            <a:endParaRPr lang="en-IN" sz="1600" dirty="0"/>
          </a:p>
        </p:txBody>
      </p:sp>
      <p:sp>
        <p:nvSpPr>
          <p:cNvPr id="8" name="TextBox 7">
            <a:extLst>
              <a:ext uri="{FF2B5EF4-FFF2-40B4-BE49-F238E27FC236}">
                <a16:creationId xmlns="" xmlns:a16="http://schemas.microsoft.com/office/drawing/2014/main" id="{6DE799BE-6C60-4425-8EFB-7F7508CD11B3}"/>
              </a:ext>
            </a:extLst>
          </p:cNvPr>
          <p:cNvSpPr txBox="1"/>
          <p:nvPr/>
        </p:nvSpPr>
        <p:spPr>
          <a:xfrm>
            <a:off x="4934139" y="6298188"/>
            <a:ext cx="3107184" cy="648070"/>
          </a:xfrm>
          <a:prstGeom prst="rect">
            <a:avLst/>
          </a:prstGeom>
          <a:noFill/>
        </p:spPr>
        <p:txBody>
          <a:bodyPr wrap="square" rtlCol="0">
            <a:spAutoFit/>
          </a:bodyPr>
          <a:lstStyle/>
          <a:p>
            <a:pPr marL="285750" indent="-285750">
              <a:buFont typeface="Wingdings" panose="05000000000000000000" pitchFamily="2" charset="2"/>
              <a:buChar char="Ø"/>
            </a:pPr>
            <a:r>
              <a:rPr lang="en-IN" sz="1800" dirty="0"/>
              <a:t>MODULES</a:t>
            </a:r>
          </a:p>
          <a:p>
            <a:endParaRPr lang="en-IN" dirty="0"/>
          </a:p>
        </p:txBody>
      </p:sp>
      <p:sp>
        <p:nvSpPr>
          <p:cNvPr id="3" name="TextBox 2">
            <a:extLst>
              <a:ext uri="{FF2B5EF4-FFF2-40B4-BE49-F238E27FC236}">
                <a16:creationId xmlns="" xmlns:a16="http://schemas.microsoft.com/office/drawing/2014/main" id="{5DFE35AC-88A7-4415-A2F1-9883F1C5D074}"/>
              </a:ext>
            </a:extLst>
          </p:cNvPr>
          <p:cNvSpPr txBox="1"/>
          <p:nvPr/>
        </p:nvSpPr>
        <p:spPr>
          <a:xfrm>
            <a:off x="522942" y="1930400"/>
            <a:ext cx="5293895" cy="3046988"/>
          </a:xfrm>
          <a:prstGeom prst="rect">
            <a:avLst/>
          </a:prstGeom>
          <a:noFill/>
        </p:spPr>
        <p:txBody>
          <a:bodyPr wrap="square" rtlCol="0">
            <a:spAutoFit/>
          </a:bodyPr>
          <a:lstStyle/>
          <a:p>
            <a:pPr marL="285750" indent="-285750">
              <a:buFont typeface="Arial" panose="020B0604020202020204" pitchFamily="34" charset="0"/>
              <a:buChar char="•"/>
            </a:pPr>
            <a:r>
              <a:rPr lang="en-US" sz="1600" dirty="0"/>
              <a:t>INTRODUCTION</a:t>
            </a:r>
          </a:p>
          <a:p>
            <a:r>
              <a:rPr lang="en-US" sz="1600" dirty="0"/>
              <a:t>			</a:t>
            </a:r>
          </a:p>
          <a:p>
            <a:pPr marL="457200" indent="-457200">
              <a:buFont typeface="Arial" panose="020B0604020202020204" pitchFamily="34" charset="0"/>
              <a:buChar char="•"/>
            </a:pPr>
            <a:r>
              <a:rPr lang="en-US" sz="1600" dirty="0"/>
              <a:t>		EXISTING VS PROPOSED SYSTEMS</a:t>
            </a:r>
          </a:p>
          <a:p>
            <a:r>
              <a:rPr lang="en-US" sz="1600" dirty="0"/>
              <a:t>			</a:t>
            </a:r>
          </a:p>
          <a:p>
            <a:pPr marL="457200" indent="-457200">
              <a:buFont typeface="Arial" panose="020B0604020202020204" pitchFamily="34" charset="0"/>
              <a:buChar char="•"/>
            </a:pPr>
            <a:r>
              <a:rPr lang="en-US" sz="1600" dirty="0"/>
              <a:t>		PURPOSE OF THE PROJECT</a:t>
            </a:r>
          </a:p>
          <a:p>
            <a:r>
              <a:rPr lang="en-US" sz="1600" dirty="0"/>
              <a:t>			</a:t>
            </a:r>
          </a:p>
          <a:p>
            <a:pPr marL="457200" indent="-457200">
              <a:buFont typeface="Arial" panose="020B0604020202020204" pitchFamily="34" charset="0"/>
              <a:buChar char="•"/>
            </a:pPr>
            <a:r>
              <a:rPr lang="en-US" sz="1600" dirty="0"/>
              <a:t>		DETAILS OF USAGE</a:t>
            </a:r>
          </a:p>
          <a:p>
            <a:r>
              <a:rPr lang="en-US" sz="1600" dirty="0"/>
              <a:t>			</a:t>
            </a:r>
          </a:p>
          <a:p>
            <a:pPr marL="457200" indent="-457200">
              <a:buFont typeface="Arial" panose="020B0604020202020204" pitchFamily="34" charset="0"/>
              <a:buChar char="•"/>
            </a:pPr>
            <a:r>
              <a:rPr lang="en-US" sz="1600" dirty="0"/>
              <a:t>		REQUIREMENTS:</a:t>
            </a:r>
          </a:p>
          <a:p>
            <a:r>
              <a:rPr lang="en-US" sz="1600" dirty="0"/>
              <a:t>					SOFTWARE</a:t>
            </a:r>
          </a:p>
          <a:p>
            <a:r>
              <a:rPr lang="en-US" sz="1600" dirty="0"/>
              <a:t>					HARDWARE</a:t>
            </a:r>
          </a:p>
          <a:p>
            <a:endParaRPr lang="en-IN" sz="1600" dirty="0"/>
          </a:p>
        </p:txBody>
      </p:sp>
    </p:spTree>
    <p:extLst>
      <p:ext uri="{BB962C8B-B14F-4D97-AF65-F5344CB8AC3E}">
        <p14:creationId xmlns:p14="http://schemas.microsoft.com/office/powerpoint/2010/main" xmlns="" val="183243182"/>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B074E654-F5CD-42C0-BCF6-2FAEA5A34092}"/>
              </a:ext>
            </a:extLst>
          </p:cNvPr>
          <p:cNvSpPr txBox="1"/>
          <p:nvPr/>
        </p:nvSpPr>
        <p:spPr>
          <a:xfrm>
            <a:off x="786064" y="289679"/>
            <a:ext cx="9641304" cy="5693866"/>
          </a:xfrm>
          <a:prstGeom prst="rect">
            <a:avLst/>
          </a:prstGeom>
          <a:noFill/>
        </p:spPr>
        <p:txBody>
          <a:bodyPr wrap="square">
            <a:spAutoFit/>
          </a:bodyPr>
          <a:lstStyle/>
          <a:p>
            <a:r>
              <a:rPr lang="en-US" sz="2800" dirty="0"/>
              <a:t> 								INTRODUCTION</a:t>
            </a:r>
          </a:p>
          <a:p>
            <a:endParaRPr lang="en-US" sz="2800" dirty="0"/>
          </a:p>
          <a:p>
            <a:pPr marL="457200" indent="-457200">
              <a:buFont typeface="Arial" panose="020B0604020202020204" pitchFamily="34" charset="0"/>
              <a:buChar char="•"/>
            </a:pPr>
            <a:r>
              <a:rPr lang="en-US" sz="2800" dirty="0"/>
              <a:t>Attendance; this has been one practice that made every work authorized and maintained in scheduled process. As time changed did the technology too, attendance registers have been taken by excel sheets, then came Bio-Metric systems and now the one you are about to know is the most recent development which is based on facial recognition system.</a:t>
            </a:r>
          </a:p>
          <a:p>
            <a:endParaRPr lang="en-US" sz="2800" dirty="0"/>
          </a:p>
          <a:p>
            <a:pPr marL="457200" indent="-457200">
              <a:buFont typeface="Arial" panose="020B0604020202020204" pitchFamily="34" charset="0"/>
              <a:buChar char="•"/>
            </a:pPr>
            <a:r>
              <a:rPr lang="en-US" sz="2800" dirty="0"/>
              <a:t>As the name says this system recognizes the face of the student and compares it with the preset picture data in the data base and then provides attendance.</a:t>
            </a:r>
          </a:p>
        </p:txBody>
      </p:sp>
    </p:spTree>
    <p:extLst>
      <p:ext uri="{BB962C8B-B14F-4D97-AF65-F5344CB8AC3E}">
        <p14:creationId xmlns:p14="http://schemas.microsoft.com/office/powerpoint/2010/main" xmlns="" val="1502236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80FF6E5F-B9E8-457B-9B9D-7A572FD4F919}"/>
              </a:ext>
            </a:extLst>
          </p:cNvPr>
          <p:cNvSpPr txBox="1"/>
          <p:nvPr/>
        </p:nvSpPr>
        <p:spPr>
          <a:xfrm>
            <a:off x="164432" y="187451"/>
            <a:ext cx="9621252" cy="7109639"/>
          </a:xfrm>
          <a:prstGeom prst="rect">
            <a:avLst/>
          </a:prstGeom>
          <a:noFill/>
        </p:spPr>
        <p:txBody>
          <a:bodyPr wrap="square">
            <a:spAutoFit/>
          </a:bodyPr>
          <a:lstStyle/>
          <a:p>
            <a:r>
              <a:rPr lang="en-US" sz="2400" dirty="0"/>
              <a:t>Existing System</a:t>
            </a:r>
          </a:p>
          <a:p>
            <a:endParaRPr lang="en-US" sz="2400" dirty="0"/>
          </a:p>
          <a:p>
            <a:pPr marL="457200" indent="-457200">
              <a:buFont typeface="Arial" panose="020B0604020202020204" pitchFamily="34" charset="0"/>
              <a:buChar char="•"/>
            </a:pPr>
            <a:r>
              <a:rPr lang="en-US" sz="2400" dirty="0"/>
              <a:t>There is an old an traditional system that is even followed even now; which is manual attendance register. Later on we started to use some tools like google documents and google sheets. Then came as previously said the bio metric system of attendance. Each had its own purpose as the sole purpose of manufacturing something is to fulfil it’s purpose.</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a:p>
            <a:r>
              <a:rPr lang="en-US" sz="2400" dirty="0"/>
              <a:t>Proposed System</a:t>
            </a:r>
            <a:br>
              <a:rPr lang="en-US" sz="2400" dirty="0"/>
            </a:br>
            <a:endParaRPr lang="en-US" sz="2400" dirty="0"/>
          </a:p>
          <a:p>
            <a:pPr marL="285750" indent="-285750">
              <a:buFont typeface="Arial" panose="020B0604020202020204" pitchFamily="34" charset="0"/>
              <a:buChar char="•"/>
            </a:pPr>
            <a:r>
              <a:rPr lang="en-US" sz="2400" dirty="0"/>
              <a:t>As introduced earlier, this system captures the face and recognizes them on comparing with the pictures in data base. If there is a question of accuracy in recognition, it is achieved by continuous testing of the facial recognition system using sample data and the software used for that was Selenium IDE which we shall discuss in future.</a:t>
            </a:r>
            <a:endParaRPr lang="en-IN" sz="2400" dirty="0"/>
          </a:p>
          <a:p>
            <a:endParaRPr lang="en-US" sz="2400" dirty="0"/>
          </a:p>
        </p:txBody>
      </p:sp>
    </p:spTree>
    <p:extLst>
      <p:ext uri="{BB962C8B-B14F-4D97-AF65-F5344CB8AC3E}">
        <p14:creationId xmlns:p14="http://schemas.microsoft.com/office/powerpoint/2010/main" xmlns="" val="3571160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688B8D46-68AA-4824-90A9-AB1762BA2F23}"/>
              </a:ext>
            </a:extLst>
          </p:cNvPr>
          <p:cNvSpPr txBox="1"/>
          <p:nvPr/>
        </p:nvSpPr>
        <p:spPr>
          <a:xfrm>
            <a:off x="533401" y="713691"/>
            <a:ext cx="6104020" cy="954107"/>
          </a:xfrm>
          <a:prstGeom prst="rect">
            <a:avLst/>
          </a:prstGeom>
          <a:noFill/>
        </p:spPr>
        <p:txBody>
          <a:bodyPr wrap="square">
            <a:spAutoFit/>
          </a:bodyPr>
          <a:lstStyle/>
          <a:p>
            <a:r>
              <a:rPr lang="en-US" sz="2800" dirty="0">
                <a:latin typeface="Arial Black" panose="020B0A04020102020204" pitchFamily="34" charset="0"/>
              </a:rPr>
              <a:t>SOFTWARE AND HARDWARE REQUIREMENTS</a:t>
            </a:r>
            <a:endParaRPr lang="en-IN" sz="2800" dirty="0">
              <a:latin typeface="Arial Black" panose="020B0A04020102020204" pitchFamily="34" charset="0"/>
            </a:endParaRPr>
          </a:p>
        </p:txBody>
      </p:sp>
      <p:sp>
        <p:nvSpPr>
          <p:cNvPr id="8" name="TextBox 7">
            <a:extLst>
              <a:ext uri="{FF2B5EF4-FFF2-40B4-BE49-F238E27FC236}">
                <a16:creationId xmlns="" xmlns:a16="http://schemas.microsoft.com/office/drawing/2014/main" id="{2A9A442D-6CDE-4B55-AD14-CFAF2A15AE70}"/>
              </a:ext>
            </a:extLst>
          </p:cNvPr>
          <p:cNvSpPr txBox="1"/>
          <p:nvPr/>
        </p:nvSpPr>
        <p:spPr>
          <a:xfrm>
            <a:off x="533401" y="2037347"/>
            <a:ext cx="8117305" cy="4339650"/>
          </a:xfrm>
          <a:prstGeom prst="rect">
            <a:avLst/>
          </a:prstGeom>
          <a:noFill/>
        </p:spPr>
        <p:txBody>
          <a:bodyPr wrap="square" rtlCol="0">
            <a:spAutoFit/>
          </a:bodyPr>
          <a:lstStyle/>
          <a:p>
            <a:r>
              <a:rPr lang="en-US" sz="2800" b="1" dirty="0"/>
              <a:t>HARDWARE:</a:t>
            </a:r>
          </a:p>
          <a:p>
            <a:r>
              <a:rPr lang="en-US" sz="2400" dirty="0"/>
              <a:t>A SERVER , WHICH IS GENERALLY A PC THAT HAS A COMPATIBILITY TO TAKE A LOAD, MINIMUM OF I5 PROCESSOR OR AN AMD RYZEN 5 AND ALSO THAT HAS A CAMERA AVAILABILITY</a:t>
            </a:r>
          </a:p>
          <a:p>
            <a:endParaRPr lang="en-IN" sz="2800" b="1" dirty="0"/>
          </a:p>
          <a:p>
            <a:r>
              <a:rPr lang="en-IN" sz="2800" b="1" dirty="0"/>
              <a:t>SOFTWARE:</a:t>
            </a:r>
          </a:p>
          <a:p>
            <a:r>
              <a:rPr lang="en-IN" sz="2400" dirty="0"/>
              <a:t>SELENIUM IDE, SUBMILME TEXT, PYTHON 3, DJANGO, ASGIREF, PYTZ, TINYURL, OPENCV, SQLPARSE.GITHUB, STATIC CODE ANALSYSIS – SONARQUBE.</a:t>
            </a:r>
          </a:p>
          <a:p>
            <a:endParaRPr lang="en-IN" sz="2400" dirty="0"/>
          </a:p>
        </p:txBody>
      </p:sp>
    </p:spTree>
    <p:extLst>
      <p:ext uri="{BB962C8B-B14F-4D97-AF65-F5344CB8AC3E}">
        <p14:creationId xmlns:p14="http://schemas.microsoft.com/office/powerpoint/2010/main" xmlns="" val="976395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BBC21E-44FA-4545-9D8E-76C50949B90A}"/>
              </a:ext>
            </a:extLst>
          </p:cNvPr>
          <p:cNvSpPr>
            <a:spLocks noGrp="1"/>
          </p:cNvSpPr>
          <p:nvPr>
            <p:ph type="title"/>
          </p:nvPr>
        </p:nvSpPr>
        <p:spPr>
          <a:xfrm>
            <a:off x="677334" y="566324"/>
            <a:ext cx="8644219" cy="1112520"/>
          </a:xfrm>
        </p:spPr>
        <p:txBody>
          <a:bodyPr/>
          <a:lstStyle/>
          <a:p>
            <a:r>
              <a:rPr lang="en-US" dirty="0"/>
              <a:t>SRS: Software Requirement Specification</a:t>
            </a:r>
            <a:endParaRPr lang="en-IN" dirty="0"/>
          </a:p>
        </p:txBody>
      </p:sp>
      <p:sp>
        <p:nvSpPr>
          <p:cNvPr id="3" name="Content Placeholder 2">
            <a:extLst>
              <a:ext uri="{FF2B5EF4-FFF2-40B4-BE49-F238E27FC236}">
                <a16:creationId xmlns="" xmlns:a16="http://schemas.microsoft.com/office/drawing/2014/main" id="{3C38BB50-4CB3-42C1-B800-C46D50450B76}"/>
              </a:ext>
            </a:extLst>
          </p:cNvPr>
          <p:cNvSpPr>
            <a:spLocks noGrp="1"/>
          </p:cNvSpPr>
          <p:nvPr>
            <p:ph idx="1"/>
          </p:nvPr>
        </p:nvSpPr>
        <p:spPr>
          <a:xfrm>
            <a:off x="393250" y="1187791"/>
            <a:ext cx="7268179" cy="1112520"/>
          </a:xfrm>
        </p:spPr>
        <p:txBody>
          <a:bodyPr>
            <a:normAutofit/>
          </a:bodyPr>
          <a:lstStyle/>
          <a:p>
            <a:r>
              <a:rPr lang="en-US" dirty="0"/>
              <a:t>Purpose:</a:t>
            </a:r>
          </a:p>
          <a:p>
            <a:pPr lvl="2"/>
            <a:r>
              <a:rPr lang="en-US" sz="1800" dirty="0"/>
              <a:t>To make the present attendance system a smarter one.</a:t>
            </a:r>
          </a:p>
          <a:p>
            <a:pPr marL="914400" lvl="2" indent="0">
              <a:buNone/>
            </a:pPr>
            <a:endParaRPr lang="en-US" sz="1800" dirty="0"/>
          </a:p>
          <a:p>
            <a:pPr marL="914400" lvl="2" indent="0">
              <a:buNone/>
            </a:pPr>
            <a:endParaRPr lang="en-US" sz="1800" dirty="0"/>
          </a:p>
        </p:txBody>
      </p:sp>
      <p:sp>
        <p:nvSpPr>
          <p:cNvPr id="5" name="TextBox 4">
            <a:extLst>
              <a:ext uri="{FF2B5EF4-FFF2-40B4-BE49-F238E27FC236}">
                <a16:creationId xmlns="" xmlns:a16="http://schemas.microsoft.com/office/drawing/2014/main" id="{B0F1093D-E791-4786-8B57-7FA55117BAFD}"/>
              </a:ext>
            </a:extLst>
          </p:cNvPr>
          <p:cNvSpPr txBox="1"/>
          <p:nvPr/>
        </p:nvSpPr>
        <p:spPr>
          <a:xfrm>
            <a:off x="393250" y="2263915"/>
            <a:ext cx="7705818" cy="1508105"/>
          </a:xfrm>
          <a:prstGeom prst="rect">
            <a:avLst/>
          </a:prstGeom>
          <a:noFill/>
        </p:spPr>
        <p:txBody>
          <a:bodyPr wrap="square" rtlCol="0">
            <a:spAutoFit/>
          </a:bodyPr>
          <a:lstStyle/>
          <a:p>
            <a:r>
              <a:rPr lang="en-US" sz="2000" b="1" dirty="0"/>
              <a:t>Document Conventions:</a:t>
            </a:r>
          </a:p>
          <a:p>
            <a:endParaRPr lang="en-US" dirty="0"/>
          </a:p>
          <a:p>
            <a:endParaRPr lang="en-US" dirty="0"/>
          </a:p>
          <a:p>
            <a:r>
              <a:rPr lang="en-US" dirty="0"/>
              <a:t>Syntax Conventions:</a:t>
            </a:r>
          </a:p>
          <a:p>
            <a:endParaRPr lang="en-IN" dirty="0"/>
          </a:p>
        </p:txBody>
      </p:sp>
      <p:graphicFrame>
        <p:nvGraphicFramePr>
          <p:cNvPr id="6" name="Table 6">
            <a:extLst>
              <a:ext uri="{FF2B5EF4-FFF2-40B4-BE49-F238E27FC236}">
                <a16:creationId xmlns="" xmlns:a16="http://schemas.microsoft.com/office/drawing/2014/main" id="{6EE6DB4E-C241-4DEC-9691-05E2D7D9C119}"/>
              </a:ext>
            </a:extLst>
          </p:cNvPr>
          <p:cNvGraphicFramePr>
            <a:graphicFrameLocks noGrp="1"/>
          </p:cNvGraphicFramePr>
          <p:nvPr>
            <p:extLst>
              <p:ext uri="{D42A27DB-BD31-4B8C-83A1-F6EECF244321}">
                <p14:modId xmlns:p14="http://schemas.microsoft.com/office/powerpoint/2010/main" xmlns="" val="6120210"/>
              </p:ext>
            </p:extLst>
          </p:nvPr>
        </p:nvGraphicFramePr>
        <p:xfrm>
          <a:off x="2674811" y="3195520"/>
          <a:ext cx="8128000" cy="3576320"/>
        </p:xfrm>
        <a:graphic>
          <a:graphicData uri="http://schemas.openxmlformats.org/drawingml/2006/table">
            <a:tbl>
              <a:tblPr firstRow="1" bandRow="1">
                <a:tableStyleId>{5C22544A-7EE6-4342-B048-85BDC9FD1C3A}</a:tableStyleId>
              </a:tblPr>
              <a:tblGrid>
                <a:gridCol w="4064000">
                  <a:extLst>
                    <a:ext uri="{9D8B030D-6E8A-4147-A177-3AD203B41FA5}">
                      <a16:colId xmlns="" xmlns:a16="http://schemas.microsoft.com/office/drawing/2014/main" val="3976183860"/>
                    </a:ext>
                  </a:extLst>
                </a:gridCol>
                <a:gridCol w="4064000">
                  <a:extLst>
                    <a:ext uri="{9D8B030D-6E8A-4147-A177-3AD203B41FA5}">
                      <a16:colId xmlns="" xmlns:a16="http://schemas.microsoft.com/office/drawing/2014/main" val="445858187"/>
                    </a:ext>
                  </a:extLst>
                </a:gridCol>
              </a:tblGrid>
              <a:tr h="370840">
                <a:tc>
                  <a:txBody>
                    <a:bodyPr/>
                    <a:lstStyle/>
                    <a:p>
                      <a:r>
                        <a:rPr lang="en-US" dirty="0"/>
                        <a:t>Conventions</a:t>
                      </a:r>
                      <a:endParaRPr lang="en-IN" dirty="0"/>
                    </a:p>
                  </a:txBody>
                  <a:tcPr/>
                </a:tc>
                <a:tc>
                  <a:txBody>
                    <a:bodyPr/>
                    <a:lstStyle/>
                    <a:p>
                      <a:r>
                        <a:rPr lang="en-US" dirty="0"/>
                        <a:t>Description</a:t>
                      </a:r>
                      <a:endParaRPr lang="en-IN" dirty="0"/>
                    </a:p>
                  </a:txBody>
                  <a:tcPr/>
                </a:tc>
                <a:extLst>
                  <a:ext uri="{0D108BD9-81ED-4DB2-BD59-A6C34878D82A}">
                    <a16:rowId xmlns="" xmlns:a16="http://schemas.microsoft.com/office/drawing/2014/main" val="967285355"/>
                  </a:ext>
                </a:extLst>
              </a:tr>
              <a:tr h="370840">
                <a:tc>
                  <a:txBody>
                    <a:bodyPr/>
                    <a:lstStyle/>
                    <a:p>
                      <a:r>
                        <a:rPr lang="en-US" sz="1800" b="0" i="0" kern="1200" dirty="0">
                          <a:solidFill>
                            <a:schemeClr val="dk1"/>
                          </a:solidFill>
                          <a:effectLst/>
                          <a:latin typeface="+mn-lt"/>
                          <a:ea typeface="+mn-ea"/>
                          <a:cs typeface="+mn-cs"/>
                        </a:rPr>
                        <a:t>Courier New </a:t>
                      </a:r>
                      <a:endParaRPr lang="en-IN" dirty="0"/>
                    </a:p>
                  </a:txBody>
                  <a:tcPr/>
                </a:tc>
                <a:tc>
                  <a:txBody>
                    <a:bodyPr/>
                    <a:lstStyle/>
                    <a:p>
                      <a:r>
                        <a:rPr lang="en-US" dirty="0"/>
                        <a:t>The code part is written in Courier New font</a:t>
                      </a:r>
                      <a:endParaRPr lang="en-IN" dirty="0"/>
                    </a:p>
                  </a:txBody>
                  <a:tcPr/>
                </a:tc>
                <a:extLst>
                  <a:ext uri="{0D108BD9-81ED-4DB2-BD59-A6C34878D82A}">
                    <a16:rowId xmlns="" xmlns:a16="http://schemas.microsoft.com/office/drawing/2014/main" val="533516481"/>
                  </a:ext>
                </a:extLst>
              </a:tr>
              <a:tr h="370840">
                <a:tc>
                  <a:txBody>
                    <a:bodyPr/>
                    <a:lstStyle/>
                    <a:p>
                      <a:r>
                        <a:rPr lang="en-US" i="1" dirty="0"/>
                        <a:t>Italic</a:t>
                      </a:r>
                      <a:endParaRPr lang="en-IN" i="1" dirty="0"/>
                    </a:p>
                  </a:txBody>
                  <a:tcPr/>
                </a:tc>
                <a:tc>
                  <a:txBody>
                    <a:bodyPr/>
                    <a:lstStyle/>
                    <a:p>
                      <a:r>
                        <a:rPr lang="en-US" dirty="0"/>
                        <a:t>All of the CSS part is written is italic font</a:t>
                      </a:r>
                      <a:endParaRPr lang="en-IN" dirty="0"/>
                    </a:p>
                  </a:txBody>
                  <a:tcPr/>
                </a:tc>
                <a:extLst>
                  <a:ext uri="{0D108BD9-81ED-4DB2-BD59-A6C34878D82A}">
                    <a16:rowId xmlns="" xmlns:a16="http://schemas.microsoft.com/office/drawing/2014/main" val="3863357928"/>
                  </a:ext>
                </a:extLst>
              </a:tr>
              <a:tr h="370840">
                <a:tc>
                  <a:txBody>
                    <a:bodyPr/>
                    <a:lstStyle/>
                    <a:p>
                      <a:r>
                        <a:rPr lang="en-US" i="1" dirty="0"/>
                        <a:t>&lt;&gt;</a:t>
                      </a:r>
                      <a:endParaRPr lang="en-IN" i="1" dirty="0"/>
                    </a:p>
                  </a:txBody>
                  <a:tcPr/>
                </a:tc>
                <a:tc>
                  <a:txBody>
                    <a:bodyPr/>
                    <a:lstStyle/>
                    <a:p>
                      <a:r>
                        <a:rPr lang="en-US" dirty="0"/>
                        <a:t>As always all the HTML code is written in between &lt;&gt;</a:t>
                      </a:r>
                      <a:endParaRPr lang="en-IN" dirty="0"/>
                    </a:p>
                  </a:txBody>
                  <a:tcPr/>
                </a:tc>
                <a:extLst>
                  <a:ext uri="{0D108BD9-81ED-4DB2-BD59-A6C34878D82A}">
                    <a16:rowId xmlns="" xmlns:a16="http://schemas.microsoft.com/office/drawing/2014/main" val="296940011"/>
                  </a:ext>
                </a:extLst>
              </a:tr>
              <a:tr h="370840">
                <a:tc>
                  <a:txBody>
                    <a:bodyPr/>
                    <a:lstStyle/>
                    <a:p>
                      <a:r>
                        <a:rPr lang="en-US" i="1" dirty="0"/>
                        <a:t>#</a:t>
                      </a:r>
                      <a:endParaRPr lang="en-IN" i="1" dirty="0"/>
                    </a:p>
                  </a:txBody>
                  <a:tcPr/>
                </a:tc>
                <a:tc>
                  <a:txBody>
                    <a:bodyPr/>
                    <a:lstStyle/>
                    <a:p>
                      <a:r>
                        <a:rPr lang="en-US" dirty="0"/>
                        <a:t># symbol is used to make the code part a comment in both HTML and Python.</a:t>
                      </a:r>
                      <a:endParaRPr lang="en-IN" dirty="0"/>
                    </a:p>
                  </a:txBody>
                  <a:tcPr/>
                </a:tc>
                <a:extLst>
                  <a:ext uri="{0D108BD9-81ED-4DB2-BD59-A6C34878D82A}">
                    <a16:rowId xmlns="" xmlns:a16="http://schemas.microsoft.com/office/drawing/2014/main" val="3248027218"/>
                  </a:ext>
                </a:extLst>
              </a:tr>
              <a:tr h="370840">
                <a:tc>
                  <a:txBody>
                    <a:bodyPr/>
                    <a:lstStyle/>
                    <a:p>
                      <a:r>
                        <a:rPr lang="en-US" i="1" dirty="0"/>
                        <a:t>{}</a:t>
                      </a:r>
                      <a:endParaRPr lang="en-IN" i="1" dirty="0"/>
                    </a:p>
                  </a:txBody>
                  <a:tcPr/>
                </a:tc>
                <a:tc>
                  <a:txBody>
                    <a:bodyPr/>
                    <a:lstStyle/>
                    <a:p>
                      <a:r>
                        <a:rPr lang="en-US" dirty="0"/>
                        <a:t>Used to make the usernames dynamic</a:t>
                      </a:r>
                      <a:endParaRPr lang="en-IN" dirty="0"/>
                    </a:p>
                  </a:txBody>
                  <a:tcPr/>
                </a:tc>
                <a:extLst>
                  <a:ext uri="{0D108BD9-81ED-4DB2-BD59-A6C34878D82A}">
                    <a16:rowId xmlns="" xmlns:a16="http://schemas.microsoft.com/office/drawing/2014/main" val="2375763427"/>
                  </a:ext>
                </a:extLst>
              </a:tr>
            </a:tbl>
          </a:graphicData>
        </a:graphic>
      </p:graphicFrame>
    </p:spTree>
    <p:extLst>
      <p:ext uri="{BB962C8B-B14F-4D97-AF65-F5344CB8AC3E}">
        <p14:creationId xmlns:p14="http://schemas.microsoft.com/office/powerpoint/2010/main" xmlns="" val="1768943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 xmlns:a16="http://schemas.microsoft.com/office/drawing/2014/main" id="{5F177ADC-5074-451F-B13E-3523F82AF9F3}"/>
              </a:ext>
            </a:extLst>
          </p:cNvPr>
          <p:cNvGraphicFramePr>
            <a:graphicFrameLocks noGrp="1"/>
          </p:cNvGraphicFramePr>
          <p:nvPr>
            <p:extLst>
              <p:ext uri="{D42A27DB-BD31-4B8C-83A1-F6EECF244321}">
                <p14:modId xmlns:p14="http://schemas.microsoft.com/office/powerpoint/2010/main" xmlns="" val="2566408009"/>
              </p:ext>
            </p:extLst>
          </p:nvPr>
        </p:nvGraphicFramePr>
        <p:xfrm>
          <a:off x="248573" y="799563"/>
          <a:ext cx="8176336" cy="1118013"/>
        </p:xfrm>
        <a:graphic>
          <a:graphicData uri="http://schemas.openxmlformats.org/drawingml/2006/table">
            <a:tbl>
              <a:tblPr firstRow="1" bandRow="1">
                <a:tableStyleId>{5C22544A-7EE6-4342-B048-85BDC9FD1C3A}</a:tableStyleId>
              </a:tblPr>
              <a:tblGrid>
                <a:gridCol w="4088168">
                  <a:extLst>
                    <a:ext uri="{9D8B030D-6E8A-4147-A177-3AD203B41FA5}">
                      <a16:colId xmlns="" xmlns:a16="http://schemas.microsoft.com/office/drawing/2014/main" val="1184034226"/>
                    </a:ext>
                  </a:extLst>
                </a:gridCol>
                <a:gridCol w="4088168">
                  <a:extLst>
                    <a:ext uri="{9D8B030D-6E8A-4147-A177-3AD203B41FA5}">
                      <a16:colId xmlns="" xmlns:a16="http://schemas.microsoft.com/office/drawing/2014/main" val="3282384276"/>
                    </a:ext>
                  </a:extLst>
                </a:gridCol>
              </a:tblGrid>
              <a:tr h="410125">
                <a:tc>
                  <a:txBody>
                    <a:bodyPr/>
                    <a:lstStyle/>
                    <a:p>
                      <a:r>
                        <a:rPr lang="en-US" dirty="0"/>
                        <a:t>Conventions</a:t>
                      </a:r>
                      <a:endParaRPr lang="en-IN" dirty="0"/>
                    </a:p>
                  </a:txBody>
                  <a:tcPr/>
                </a:tc>
                <a:tc>
                  <a:txBody>
                    <a:bodyPr/>
                    <a:lstStyle/>
                    <a:p>
                      <a:r>
                        <a:rPr lang="en-US" dirty="0"/>
                        <a:t>Description</a:t>
                      </a:r>
                      <a:endParaRPr lang="en-IN" dirty="0"/>
                    </a:p>
                  </a:txBody>
                  <a:tcPr/>
                </a:tc>
                <a:extLst>
                  <a:ext uri="{0D108BD9-81ED-4DB2-BD59-A6C34878D82A}">
                    <a16:rowId xmlns="" xmlns:a16="http://schemas.microsoft.com/office/drawing/2014/main" val="2239782335"/>
                  </a:ext>
                </a:extLst>
              </a:tr>
              <a:tr h="707888">
                <a:tc>
                  <a:txBody>
                    <a:bodyPr/>
                    <a:lstStyle/>
                    <a:p>
                      <a:r>
                        <a:rPr lang="en-US" dirty="0"/>
                        <a:t>c, ass, assc</a:t>
                      </a:r>
                      <a:endParaRPr lang="en-IN" dirty="0"/>
                    </a:p>
                  </a:txBody>
                  <a:tcPr/>
                </a:tc>
                <a:tc>
                  <a:txBody>
                    <a:bodyPr/>
                    <a:lstStyle/>
                    <a:p>
                      <a:r>
                        <a:rPr lang="en-US" dirty="0"/>
                        <a:t>All the data base objects are defined using the variable ‘c’, ‘ass’, ‘assc’</a:t>
                      </a:r>
                      <a:endParaRPr lang="en-IN" dirty="0"/>
                    </a:p>
                  </a:txBody>
                  <a:tcPr/>
                </a:tc>
                <a:extLst>
                  <a:ext uri="{0D108BD9-81ED-4DB2-BD59-A6C34878D82A}">
                    <a16:rowId xmlns="" xmlns:a16="http://schemas.microsoft.com/office/drawing/2014/main" val="3701635114"/>
                  </a:ext>
                </a:extLst>
              </a:tr>
            </a:tbl>
          </a:graphicData>
        </a:graphic>
      </p:graphicFrame>
      <p:sp>
        <p:nvSpPr>
          <p:cNvPr id="5" name="TextBox 4">
            <a:extLst>
              <a:ext uri="{FF2B5EF4-FFF2-40B4-BE49-F238E27FC236}">
                <a16:creationId xmlns="" xmlns:a16="http://schemas.microsoft.com/office/drawing/2014/main" id="{8332C94D-0B4A-4C12-84DD-9950A9B88B5C}"/>
              </a:ext>
            </a:extLst>
          </p:cNvPr>
          <p:cNvSpPr txBox="1"/>
          <p:nvPr/>
        </p:nvSpPr>
        <p:spPr>
          <a:xfrm>
            <a:off x="248574" y="275207"/>
            <a:ext cx="3124940" cy="461665"/>
          </a:xfrm>
          <a:prstGeom prst="rect">
            <a:avLst/>
          </a:prstGeom>
          <a:noFill/>
        </p:spPr>
        <p:txBody>
          <a:bodyPr wrap="square" rtlCol="0">
            <a:spAutoFit/>
          </a:bodyPr>
          <a:lstStyle/>
          <a:p>
            <a:r>
              <a:rPr lang="en-US" sz="2400" dirty="0"/>
              <a:t>Naming Conventions</a:t>
            </a:r>
            <a:endParaRPr lang="en-IN" sz="2400" dirty="0"/>
          </a:p>
        </p:txBody>
      </p:sp>
      <p:graphicFrame>
        <p:nvGraphicFramePr>
          <p:cNvPr id="6" name="Table 6">
            <a:extLst>
              <a:ext uri="{FF2B5EF4-FFF2-40B4-BE49-F238E27FC236}">
                <a16:creationId xmlns="" xmlns:a16="http://schemas.microsoft.com/office/drawing/2014/main" id="{571E1810-A6DC-463B-A6CD-A8BC5D5E25D0}"/>
              </a:ext>
            </a:extLst>
          </p:cNvPr>
          <p:cNvGraphicFramePr>
            <a:graphicFrameLocks noGrp="1"/>
          </p:cNvGraphicFramePr>
          <p:nvPr>
            <p:extLst>
              <p:ext uri="{D42A27DB-BD31-4B8C-83A1-F6EECF244321}">
                <p14:modId xmlns:p14="http://schemas.microsoft.com/office/powerpoint/2010/main" xmlns="" val="2295155306"/>
              </p:ext>
            </p:extLst>
          </p:nvPr>
        </p:nvGraphicFramePr>
        <p:xfrm>
          <a:off x="296909" y="3102236"/>
          <a:ext cx="8128000" cy="3205480"/>
        </p:xfrm>
        <a:graphic>
          <a:graphicData uri="http://schemas.openxmlformats.org/drawingml/2006/table">
            <a:tbl>
              <a:tblPr firstRow="1" bandRow="1">
                <a:tableStyleId>{5C22544A-7EE6-4342-B048-85BDC9FD1C3A}</a:tableStyleId>
              </a:tblPr>
              <a:tblGrid>
                <a:gridCol w="4064000">
                  <a:extLst>
                    <a:ext uri="{9D8B030D-6E8A-4147-A177-3AD203B41FA5}">
                      <a16:colId xmlns="" xmlns:a16="http://schemas.microsoft.com/office/drawing/2014/main" val="3358764346"/>
                    </a:ext>
                  </a:extLst>
                </a:gridCol>
                <a:gridCol w="4064000">
                  <a:extLst>
                    <a:ext uri="{9D8B030D-6E8A-4147-A177-3AD203B41FA5}">
                      <a16:colId xmlns="" xmlns:a16="http://schemas.microsoft.com/office/drawing/2014/main" val="3579069973"/>
                    </a:ext>
                  </a:extLst>
                </a:gridCol>
              </a:tblGrid>
              <a:tr h="370840">
                <a:tc>
                  <a:txBody>
                    <a:bodyPr/>
                    <a:lstStyle/>
                    <a:p>
                      <a:r>
                        <a:rPr lang="en-US" dirty="0"/>
                        <a:t>Conventions</a:t>
                      </a:r>
                      <a:endParaRPr lang="en-IN" dirty="0"/>
                    </a:p>
                  </a:txBody>
                  <a:tcPr/>
                </a:tc>
                <a:tc>
                  <a:txBody>
                    <a:bodyPr/>
                    <a:lstStyle/>
                    <a:p>
                      <a:r>
                        <a:rPr lang="en-US" dirty="0"/>
                        <a:t>Description</a:t>
                      </a:r>
                      <a:endParaRPr lang="en-IN" dirty="0"/>
                    </a:p>
                  </a:txBody>
                  <a:tcPr/>
                </a:tc>
                <a:extLst>
                  <a:ext uri="{0D108BD9-81ED-4DB2-BD59-A6C34878D82A}">
                    <a16:rowId xmlns="" xmlns:a16="http://schemas.microsoft.com/office/drawing/2014/main" val="2528755079"/>
                  </a:ext>
                </a:extLst>
              </a:tr>
              <a:tr h="370840">
                <a:tc>
                  <a:txBody>
                    <a:bodyPr/>
                    <a:lstStyle/>
                    <a:p>
                      <a:r>
                        <a:rPr lang="en-US" dirty="0"/>
                        <a:t>Login</a:t>
                      </a:r>
                      <a:endParaRPr lang="en-IN" dirty="0"/>
                    </a:p>
                  </a:txBody>
                  <a:tcPr/>
                </a:tc>
                <a:tc>
                  <a:txBody>
                    <a:bodyPr/>
                    <a:lstStyle/>
                    <a:p>
                      <a:r>
                        <a:rPr lang="en-US" dirty="0"/>
                        <a:t>This term refers to the login using the given username and respective passwords.</a:t>
                      </a:r>
                      <a:endParaRPr lang="en-IN" dirty="0"/>
                    </a:p>
                  </a:txBody>
                  <a:tcPr/>
                </a:tc>
                <a:extLst>
                  <a:ext uri="{0D108BD9-81ED-4DB2-BD59-A6C34878D82A}">
                    <a16:rowId xmlns="" xmlns:a16="http://schemas.microsoft.com/office/drawing/2014/main" val="1952244572"/>
                  </a:ext>
                </a:extLst>
              </a:tr>
              <a:tr h="370840">
                <a:tc>
                  <a:txBody>
                    <a:bodyPr/>
                    <a:lstStyle/>
                    <a:p>
                      <a:r>
                        <a:rPr lang="en-US" dirty="0"/>
                        <a:t>View Attendance</a:t>
                      </a:r>
                      <a:endParaRPr lang="en-IN" dirty="0"/>
                    </a:p>
                  </a:txBody>
                  <a:tcPr/>
                </a:tc>
                <a:tc>
                  <a:txBody>
                    <a:bodyPr/>
                    <a:lstStyle/>
                    <a:p>
                      <a:r>
                        <a:rPr lang="en-US" dirty="0"/>
                        <a:t>This term refers to view attendance in the particular login.</a:t>
                      </a:r>
                      <a:endParaRPr lang="en-IN" dirty="0"/>
                    </a:p>
                  </a:txBody>
                  <a:tcPr/>
                </a:tc>
                <a:extLst>
                  <a:ext uri="{0D108BD9-81ED-4DB2-BD59-A6C34878D82A}">
                    <a16:rowId xmlns="" xmlns:a16="http://schemas.microsoft.com/office/drawing/2014/main" val="1343791357"/>
                  </a:ext>
                </a:extLst>
              </a:tr>
              <a:tr h="370840">
                <a:tc>
                  <a:txBody>
                    <a:bodyPr/>
                    <a:lstStyle/>
                    <a:p>
                      <a:r>
                        <a:rPr lang="en-US" dirty="0"/>
                        <a:t>Marks </a:t>
                      </a:r>
                      <a:endParaRPr lang="en-IN" dirty="0"/>
                    </a:p>
                  </a:txBody>
                  <a:tcPr/>
                </a:tc>
                <a:tc>
                  <a:txBody>
                    <a:bodyPr/>
                    <a:lstStyle/>
                    <a:p>
                      <a:r>
                        <a:rPr lang="en-US" dirty="0"/>
                        <a:t>To view/give marks based on type of login.</a:t>
                      </a:r>
                    </a:p>
                  </a:txBody>
                  <a:tcPr/>
                </a:tc>
                <a:extLst>
                  <a:ext uri="{0D108BD9-81ED-4DB2-BD59-A6C34878D82A}">
                    <a16:rowId xmlns="" xmlns:a16="http://schemas.microsoft.com/office/drawing/2014/main" val="1594773763"/>
                  </a:ext>
                </a:extLst>
              </a:tr>
              <a:tr h="370840">
                <a:tc>
                  <a:txBody>
                    <a:bodyPr/>
                    <a:lstStyle/>
                    <a:p>
                      <a:r>
                        <a:rPr lang="en-US" dirty="0"/>
                        <a:t>Generate reports</a:t>
                      </a:r>
                      <a:endParaRPr lang="en-IN" dirty="0"/>
                    </a:p>
                  </a:txBody>
                  <a:tcPr/>
                </a:tc>
                <a:tc>
                  <a:txBody>
                    <a:bodyPr/>
                    <a:lstStyle/>
                    <a:p>
                      <a:r>
                        <a:rPr lang="en-US" dirty="0"/>
                        <a:t>To generate the student reports in teacher login.</a:t>
                      </a:r>
                    </a:p>
                  </a:txBody>
                  <a:tcPr/>
                </a:tc>
                <a:extLst>
                  <a:ext uri="{0D108BD9-81ED-4DB2-BD59-A6C34878D82A}">
                    <a16:rowId xmlns="" xmlns:a16="http://schemas.microsoft.com/office/drawing/2014/main" val="934710347"/>
                  </a:ext>
                </a:extLst>
              </a:tr>
            </a:tbl>
          </a:graphicData>
        </a:graphic>
      </p:graphicFrame>
      <p:sp>
        <p:nvSpPr>
          <p:cNvPr id="7" name="TextBox 6">
            <a:extLst>
              <a:ext uri="{FF2B5EF4-FFF2-40B4-BE49-F238E27FC236}">
                <a16:creationId xmlns="" xmlns:a16="http://schemas.microsoft.com/office/drawing/2014/main" id="{A5EDEF67-A1EE-4FEC-9E2B-2C69C37B32AF}"/>
              </a:ext>
            </a:extLst>
          </p:cNvPr>
          <p:cNvSpPr txBox="1"/>
          <p:nvPr/>
        </p:nvSpPr>
        <p:spPr>
          <a:xfrm>
            <a:off x="272741" y="2248296"/>
            <a:ext cx="3195961" cy="954107"/>
          </a:xfrm>
          <a:prstGeom prst="rect">
            <a:avLst/>
          </a:prstGeom>
          <a:noFill/>
        </p:spPr>
        <p:txBody>
          <a:bodyPr wrap="square" rtlCol="0">
            <a:spAutoFit/>
          </a:bodyPr>
          <a:lstStyle/>
          <a:p>
            <a:r>
              <a:rPr lang="en-US" sz="2800" dirty="0"/>
              <a:t>D3(Module) Conventions</a:t>
            </a:r>
            <a:endParaRPr lang="en-IN" sz="2800" dirty="0"/>
          </a:p>
        </p:txBody>
      </p:sp>
    </p:spTree>
    <p:extLst>
      <p:ext uri="{BB962C8B-B14F-4D97-AF65-F5344CB8AC3E}">
        <p14:creationId xmlns:p14="http://schemas.microsoft.com/office/powerpoint/2010/main" xmlns="" val="1252648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1C649C-D3CE-4D3B-BF82-E79A82C929A7}"/>
              </a:ext>
            </a:extLst>
          </p:cNvPr>
          <p:cNvSpPr>
            <a:spLocks noGrp="1"/>
          </p:cNvSpPr>
          <p:nvPr>
            <p:ph type="title"/>
          </p:nvPr>
        </p:nvSpPr>
        <p:spPr>
          <a:xfrm>
            <a:off x="2594456" y="214717"/>
            <a:ext cx="6773662" cy="1050525"/>
          </a:xfrm>
        </p:spPr>
        <p:txBody>
          <a:bodyPr>
            <a:noAutofit/>
          </a:bodyPr>
          <a:lstStyle/>
          <a:p>
            <a:r>
              <a:rPr lang="en-US" dirty="0"/>
              <a:t>System Analysis</a:t>
            </a:r>
            <a:br>
              <a:rPr lang="en-US" dirty="0"/>
            </a:br>
            <a:r>
              <a:rPr lang="en-US" dirty="0"/>
              <a:t/>
            </a:r>
            <a:br>
              <a:rPr lang="en-US" dirty="0"/>
            </a:br>
            <a:endParaRPr lang="en-IN" dirty="0"/>
          </a:p>
        </p:txBody>
      </p:sp>
      <p:sp>
        <p:nvSpPr>
          <p:cNvPr id="6" name="TextBox 5">
            <a:extLst>
              <a:ext uri="{FF2B5EF4-FFF2-40B4-BE49-F238E27FC236}">
                <a16:creationId xmlns="" xmlns:a16="http://schemas.microsoft.com/office/drawing/2014/main" id="{26216B31-C5E4-4419-9906-82DC2AF4AEF6}"/>
              </a:ext>
            </a:extLst>
          </p:cNvPr>
          <p:cNvSpPr txBox="1"/>
          <p:nvPr/>
        </p:nvSpPr>
        <p:spPr>
          <a:xfrm>
            <a:off x="532660" y="1458258"/>
            <a:ext cx="4066234" cy="3693319"/>
          </a:xfrm>
          <a:prstGeom prst="rect">
            <a:avLst/>
          </a:prstGeom>
          <a:noFill/>
        </p:spPr>
        <p:txBody>
          <a:bodyPr wrap="square" rtlCol="0">
            <a:spAutoFit/>
          </a:bodyPr>
          <a:lstStyle/>
          <a:p>
            <a:r>
              <a:rPr lang="en-US" b="1" dirty="0"/>
              <a:t>Functional Requirements:</a:t>
            </a:r>
          </a:p>
          <a:p>
            <a:endParaRPr lang="en-US" sz="1200" dirty="0"/>
          </a:p>
          <a:p>
            <a:r>
              <a:rPr lang="en-US" sz="1200" dirty="0"/>
              <a:t>						Business Requirements: To change the traditional way of taking attendance into a smarter way.</a:t>
            </a:r>
          </a:p>
          <a:p>
            <a:endParaRPr lang="en-US" sz="1200" dirty="0"/>
          </a:p>
          <a:p>
            <a:r>
              <a:rPr lang="en-US" sz="1200" dirty="0"/>
              <a:t>						Administrative Functions: Every update that is done must be reported by the system.</a:t>
            </a:r>
          </a:p>
          <a:p>
            <a:r>
              <a:rPr lang="en-US" sz="1200" dirty="0"/>
              <a:t>						</a:t>
            </a:r>
          </a:p>
          <a:p>
            <a:r>
              <a:rPr lang="en-US" sz="1200" dirty="0"/>
              <a:t>						User requirements: The system must be able to do the required functions that are assigned to different logins.</a:t>
            </a:r>
          </a:p>
          <a:p>
            <a:r>
              <a:rPr lang="en-US" sz="1200" dirty="0"/>
              <a:t>						</a:t>
            </a:r>
          </a:p>
          <a:p>
            <a:r>
              <a:rPr lang="en-US" sz="1200" dirty="0"/>
              <a:t>						System Requirements: The devices that are connected to the server must be able to login using the IP address and then can use the service.</a:t>
            </a:r>
          </a:p>
          <a:p>
            <a:r>
              <a:rPr lang="en-US" sz="1200" dirty="0"/>
              <a:t>						</a:t>
            </a:r>
            <a:endParaRPr lang="en-IN" sz="1200" dirty="0"/>
          </a:p>
        </p:txBody>
      </p:sp>
      <p:sp>
        <p:nvSpPr>
          <p:cNvPr id="7" name="TextBox 6">
            <a:extLst>
              <a:ext uri="{FF2B5EF4-FFF2-40B4-BE49-F238E27FC236}">
                <a16:creationId xmlns="" xmlns:a16="http://schemas.microsoft.com/office/drawing/2014/main" id="{1C6A1926-2AB4-4DDE-83A5-CFF2D114A246}"/>
              </a:ext>
            </a:extLst>
          </p:cNvPr>
          <p:cNvSpPr txBox="1"/>
          <p:nvPr/>
        </p:nvSpPr>
        <p:spPr>
          <a:xfrm>
            <a:off x="4542867" y="1458258"/>
            <a:ext cx="4825251" cy="4216539"/>
          </a:xfrm>
          <a:prstGeom prst="rect">
            <a:avLst/>
          </a:prstGeom>
          <a:noFill/>
        </p:spPr>
        <p:txBody>
          <a:bodyPr wrap="square">
            <a:spAutoFit/>
          </a:bodyPr>
          <a:lstStyle/>
          <a:p>
            <a:r>
              <a:rPr lang="en-US" sz="1600" b="1" dirty="0"/>
              <a:t>Non- Functional Requirements:</a:t>
            </a:r>
          </a:p>
          <a:p>
            <a:r>
              <a:rPr lang="en-US" sz="1200" dirty="0"/>
              <a:t>								</a:t>
            </a:r>
          </a:p>
          <a:p>
            <a:r>
              <a:rPr lang="en-US" sz="1200" dirty="0"/>
              <a:t>						     Usability: The system is made responsive even on mobiles thus making the user interface comfortable enough.</a:t>
            </a:r>
          </a:p>
          <a:p>
            <a:endParaRPr lang="en-US" sz="1200" dirty="0"/>
          </a:p>
          <a:p>
            <a:r>
              <a:rPr lang="en-US" sz="1200" dirty="0"/>
              <a:t>							Availability: The uptime requirements are clearly met, as an educational institution runs for a whole academic year, it is available.</a:t>
            </a:r>
          </a:p>
          <a:p>
            <a:endParaRPr lang="en-US" sz="1200" dirty="0"/>
          </a:p>
          <a:p>
            <a:r>
              <a:rPr lang="en-US" sz="1200" dirty="0"/>
              <a:t>							Performance:</a:t>
            </a:r>
            <a:r>
              <a:rPr lang="en-IN" sz="1200" dirty="0"/>
              <a:t> The performance can be divided as the facial recognition part and the response time, where the response time is less than 1 second and the facial recognition has been trained using more than 1000 samples of photos thus making it accurate.</a:t>
            </a:r>
          </a:p>
          <a:p>
            <a:endParaRPr lang="en-IN" sz="1200" dirty="0"/>
          </a:p>
          <a:p>
            <a:r>
              <a:rPr lang="en-IN" sz="1200" dirty="0"/>
              <a:t>							Supportability: Supported on any device.</a:t>
            </a:r>
          </a:p>
          <a:p>
            <a:endParaRPr lang="en-IN" sz="1200" dirty="0"/>
          </a:p>
          <a:p>
            <a:r>
              <a:rPr lang="en-IN" sz="1200" dirty="0"/>
              <a:t>							Security: The unique IDs and logins make 							it secure.</a:t>
            </a:r>
          </a:p>
        </p:txBody>
      </p:sp>
    </p:spTree>
    <p:extLst>
      <p:ext uri="{BB962C8B-B14F-4D97-AF65-F5344CB8AC3E}">
        <p14:creationId xmlns:p14="http://schemas.microsoft.com/office/powerpoint/2010/main" xmlns="" val="1631748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 xmlns:a16="http://schemas.microsoft.com/office/drawing/2014/main" id="{9F8C9B8D-7A3A-4301-B902-B91185F141B7}"/>
              </a:ext>
            </a:extLst>
          </p:cNvPr>
          <p:cNvGraphicFramePr>
            <a:graphicFrameLocks noGrp="1"/>
          </p:cNvGraphicFramePr>
          <p:nvPr>
            <p:extLst>
              <p:ext uri="{D42A27DB-BD31-4B8C-83A1-F6EECF244321}">
                <p14:modId xmlns:p14="http://schemas.microsoft.com/office/powerpoint/2010/main" xmlns="" val="4037109978"/>
              </p:ext>
            </p:extLst>
          </p:nvPr>
        </p:nvGraphicFramePr>
        <p:xfrm>
          <a:off x="584673" y="584015"/>
          <a:ext cx="8497513" cy="6289195"/>
        </p:xfrm>
        <a:graphic>
          <a:graphicData uri="http://schemas.openxmlformats.org/drawingml/2006/table">
            <a:tbl>
              <a:tblPr firstRow="1" bandRow="1">
                <a:tableStyleId>{5C22544A-7EE6-4342-B048-85BDC9FD1C3A}</a:tableStyleId>
              </a:tblPr>
              <a:tblGrid>
                <a:gridCol w="4937570">
                  <a:extLst>
                    <a:ext uri="{9D8B030D-6E8A-4147-A177-3AD203B41FA5}">
                      <a16:colId xmlns="" xmlns:a16="http://schemas.microsoft.com/office/drawing/2014/main" val="4263692050"/>
                    </a:ext>
                  </a:extLst>
                </a:gridCol>
                <a:gridCol w="3559943">
                  <a:extLst>
                    <a:ext uri="{9D8B030D-6E8A-4147-A177-3AD203B41FA5}">
                      <a16:colId xmlns="" xmlns:a16="http://schemas.microsoft.com/office/drawing/2014/main" val="636914169"/>
                    </a:ext>
                  </a:extLst>
                </a:gridCol>
              </a:tblGrid>
              <a:tr h="528475">
                <a:tc>
                  <a:txBody>
                    <a:bodyPr/>
                    <a:lstStyle/>
                    <a:p>
                      <a:r>
                        <a:rPr lang="en-US" dirty="0"/>
                        <a:t>USER STORY</a:t>
                      </a:r>
                      <a:endParaRPr lang="en-IN" dirty="0"/>
                    </a:p>
                  </a:txBody>
                  <a:tcPr/>
                </a:tc>
                <a:tc>
                  <a:txBody>
                    <a:bodyPr/>
                    <a:lstStyle/>
                    <a:p>
                      <a:r>
                        <a:rPr lang="en-US" dirty="0"/>
                        <a:t>STATUS</a:t>
                      </a:r>
                      <a:endParaRPr lang="en-IN" dirty="0"/>
                    </a:p>
                  </a:txBody>
                  <a:tcPr/>
                </a:tc>
                <a:extLst>
                  <a:ext uri="{0D108BD9-81ED-4DB2-BD59-A6C34878D82A}">
                    <a16:rowId xmlns="" xmlns:a16="http://schemas.microsoft.com/office/drawing/2014/main" val="4118949677"/>
                  </a:ext>
                </a:extLst>
              </a:tr>
              <a:tr h="614516">
                <a:tc>
                  <a:txBody>
                    <a:bodyPr/>
                    <a:lstStyle/>
                    <a:p>
                      <a:r>
                        <a:rPr lang="en-US" dirty="0"/>
                        <a:t>Teacher must be able to login</a:t>
                      </a:r>
                      <a:endParaRPr lang="en-IN" dirty="0"/>
                    </a:p>
                  </a:txBody>
                  <a:tcPr/>
                </a:tc>
                <a:tc>
                  <a:txBody>
                    <a:bodyPr/>
                    <a:lstStyle/>
                    <a:p>
                      <a:r>
                        <a:rPr lang="en-US" dirty="0"/>
                        <a:t>       </a:t>
                      </a:r>
                    </a:p>
                    <a:p>
                      <a:r>
                        <a:rPr lang="en-US" dirty="0"/>
                        <a:t>       Requirements Met</a:t>
                      </a:r>
                      <a:endParaRPr lang="en-IN" dirty="0"/>
                    </a:p>
                  </a:txBody>
                  <a:tcPr/>
                </a:tc>
                <a:extLst>
                  <a:ext uri="{0D108BD9-81ED-4DB2-BD59-A6C34878D82A}">
                    <a16:rowId xmlns="" xmlns:a16="http://schemas.microsoft.com/office/drawing/2014/main" val="2044152915"/>
                  </a:ext>
                </a:extLst>
              </a:tr>
              <a:tr h="614516">
                <a:tc>
                  <a:txBody>
                    <a:bodyPr/>
                    <a:lstStyle/>
                    <a:p>
                      <a:r>
                        <a:rPr lang="en-US" dirty="0"/>
                        <a:t>Teacher must be able to change attendance</a:t>
                      </a:r>
                    </a:p>
                  </a:txBody>
                  <a:tcPr/>
                </a:tc>
                <a:tc>
                  <a:txBody>
                    <a:bodyPr/>
                    <a:lstStyle/>
                    <a:p>
                      <a:endParaRPr lang="en-US" dirty="0"/>
                    </a:p>
                    <a:p>
                      <a:r>
                        <a:rPr lang="en-US" dirty="0"/>
                        <a:t>       Requirements Met</a:t>
                      </a:r>
                      <a:endParaRPr lang="en-IN" dirty="0"/>
                    </a:p>
                  </a:txBody>
                  <a:tcPr/>
                </a:tc>
                <a:extLst>
                  <a:ext uri="{0D108BD9-81ED-4DB2-BD59-A6C34878D82A}">
                    <a16:rowId xmlns="" xmlns:a16="http://schemas.microsoft.com/office/drawing/2014/main" val="4016642106"/>
                  </a:ext>
                </a:extLst>
              </a:tr>
              <a:tr h="528475">
                <a:tc>
                  <a:txBody>
                    <a:bodyPr/>
                    <a:lstStyle/>
                    <a:p>
                      <a:r>
                        <a:rPr lang="en-US" dirty="0"/>
                        <a:t>Teacher must be able to view time table</a:t>
                      </a:r>
                      <a:endParaRPr lang="en-IN" dirty="0"/>
                    </a:p>
                  </a:txBody>
                  <a:tcPr/>
                </a:tc>
                <a:tc>
                  <a:txBody>
                    <a:bodyPr/>
                    <a:lstStyle/>
                    <a:p>
                      <a:r>
                        <a:rPr lang="en-US" dirty="0"/>
                        <a:t>       </a:t>
                      </a:r>
                    </a:p>
                    <a:p>
                      <a:r>
                        <a:rPr lang="en-US" dirty="0"/>
                        <a:t>       Requirements Met</a:t>
                      </a:r>
                      <a:endParaRPr lang="en-IN" dirty="0"/>
                    </a:p>
                  </a:txBody>
                  <a:tcPr/>
                </a:tc>
                <a:extLst>
                  <a:ext uri="{0D108BD9-81ED-4DB2-BD59-A6C34878D82A}">
                    <a16:rowId xmlns="" xmlns:a16="http://schemas.microsoft.com/office/drawing/2014/main" val="60862583"/>
                  </a:ext>
                </a:extLst>
              </a:tr>
              <a:tr h="614516">
                <a:tc>
                  <a:txBody>
                    <a:bodyPr/>
                    <a:lstStyle/>
                    <a:p>
                      <a:r>
                        <a:rPr lang="en-US" dirty="0"/>
                        <a:t>Teacher must be able to change time table</a:t>
                      </a:r>
                      <a:endParaRPr lang="en-IN" dirty="0"/>
                    </a:p>
                  </a:txBody>
                  <a:tcPr/>
                </a:tc>
                <a:tc>
                  <a:txBody>
                    <a:bodyPr/>
                    <a:lstStyle/>
                    <a:p>
                      <a:r>
                        <a:rPr lang="en-US" dirty="0"/>
                        <a:t>       </a:t>
                      </a:r>
                    </a:p>
                    <a:p>
                      <a:r>
                        <a:rPr lang="en-US" dirty="0"/>
                        <a:t>      Requirements Met</a:t>
                      </a:r>
                      <a:endParaRPr lang="en-IN" dirty="0"/>
                    </a:p>
                  </a:txBody>
                  <a:tcPr/>
                </a:tc>
                <a:extLst>
                  <a:ext uri="{0D108BD9-81ED-4DB2-BD59-A6C34878D82A}">
                    <a16:rowId xmlns="" xmlns:a16="http://schemas.microsoft.com/office/drawing/2014/main" val="3518714014"/>
                  </a:ext>
                </a:extLst>
              </a:tr>
              <a:tr h="0">
                <a:tc>
                  <a:txBody>
                    <a:bodyPr/>
                    <a:lstStyle/>
                    <a:p>
                      <a:r>
                        <a:rPr lang="en-US" dirty="0"/>
                        <a:t>Teacher must be able to generate reports</a:t>
                      </a:r>
                      <a:endParaRPr lang="en-IN" dirty="0"/>
                    </a:p>
                  </a:txBody>
                  <a:tcPr/>
                </a:tc>
                <a:tc>
                  <a:txBody>
                    <a:bodyPr/>
                    <a:lstStyle/>
                    <a:p>
                      <a:endParaRPr lang="en-US" dirty="0"/>
                    </a:p>
                    <a:p>
                      <a:r>
                        <a:rPr lang="en-US" dirty="0"/>
                        <a:t>      Requirements Met</a:t>
                      </a:r>
                    </a:p>
                  </a:txBody>
                  <a:tcPr/>
                </a:tc>
                <a:extLst>
                  <a:ext uri="{0D108BD9-81ED-4DB2-BD59-A6C34878D82A}">
                    <a16:rowId xmlns="" xmlns:a16="http://schemas.microsoft.com/office/drawing/2014/main" val="3864887070"/>
                  </a:ext>
                </a:extLst>
              </a:tr>
              <a:tr h="574365">
                <a:tc>
                  <a:txBody>
                    <a:bodyPr/>
                    <a:lstStyle/>
                    <a:p>
                      <a:r>
                        <a:rPr lang="en-US" dirty="0"/>
                        <a:t>Teacher must be able to change the marks</a:t>
                      </a:r>
                      <a:endParaRPr lang="en-IN" dirty="0"/>
                    </a:p>
                  </a:txBody>
                  <a:tcPr/>
                </a:tc>
                <a:tc>
                  <a:txBody>
                    <a:bodyPr/>
                    <a:lstStyle/>
                    <a:p>
                      <a:r>
                        <a:rPr lang="en-US" dirty="0"/>
                        <a:t>        </a:t>
                      </a:r>
                    </a:p>
                    <a:p>
                      <a:r>
                        <a:rPr lang="en-US" dirty="0"/>
                        <a:t>      Requirements Met</a:t>
                      </a:r>
                      <a:endParaRPr lang="en-IN" dirty="0"/>
                    </a:p>
                  </a:txBody>
                  <a:tcPr/>
                </a:tc>
                <a:extLst>
                  <a:ext uri="{0D108BD9-81ED-4DB2-BD59-A6C34878D82A}">
                    <a16:rowId xmlns="" xmlns:a16="http://schemas.microsoft.com/office/drawing/2014/main" val="3620288831"/>
                  </a:ext>
                </a:extLst>
              </a:tr>
              <a:tr h="574365">
                <a:tc>
                  <a:txBody>
                    <a:bodyPr/>
                    <a:lstStyle/>
                    <a:p>
                      <a:r>
                        <a:rPr lang="en-US" dirty="0"/>
                        <a:t>Teacher must be able to change time table</a:t>
                      </a:r>
                      <a:endParaRPr lang="en-IN" dirty="0"/>
                    </a:p>
                  </a:txBody>
                  <a:tcPr/>
                </a:tc>
                <a:tc>
                  <a:txBody>
                    <a:bodyPr/>
                    <a:lstStyle/>
                    <a:p>
                      <a:endParaRPr lang="en-US" dirty="0"/>
                    </a:p>
                    <a:p>
                      <a:r>
                        <a:rPr lang="en-IN" dirty="0"/>
                        <a:t>      </a:t>
                      </a:r>
                      <a:r>
                        <a:rPr lang="en-US" dirty="0"/>
                        <a:t>Requirements Met</a:t>
                      </a:r>
                      <a:endParaRPr lang="en-IN" dirty="0"/>
                    </a:p>
                  </a:txBody>
                  <a:tcPr/>
                </a:tc>
                <a:extLst>
                  <a:ext uri="{0D108BD9-81ED-4DB2-BD59-A6C34878D82A}">
                    <a16:rowId xmlns="" xmlns:a16="http://schemas.microsoft.com/office/drawing/2014/main" val="2629539769"/>
                  </a:ext>
                </a:extLst>
              </a:tr>
              <a:tr h="574365">
                <a:tc>
                  <a:txBody>
                    <a:bodyPr/>
                    <a:lstStyle/>
                    <a:p>
                      <a:r>
                        <a:rPr lang="en-US" dirty="0"/>
                        <a:t>Teacher must be able to create an extra class</a:t>
                      </a:r>
                      <a:endParaRPr lang="en-IN" dirty="0"/>
                    </a:p>
                  </a:txBody>
                  <a:tcPr/>
                </a:tc>
                <a:tc>
                  <a:txBody>
                    <a:bodyPr/>
                    <a:lstStyle/>
                    <a:p>
                      <a:r>
                        <a:rPr lang="en-US" dirty="0"/>
                        <a:t>     </a:t>
                      </a:r>
                    </a:p>
                    <a:p>
                      <a:r>
                        <a:rPr lang="en-US" dirty="0"/>
                        <a:t>      Requirements Met</a:t>
                      </a:r>
                      <a:endParaRPr lang="en-IN" dirty="0"/>
                    </a:p>
                  </a:txBody>
                  <a:tcPr/>
                </a:tc>
                <a:extLst>
                  <a:ext uri="{0D108BD9-81ED-4DB2-BD59-A6C34878D82A}">
                    <a16:rowId xmlns="" xmlns:a16="http://schemas.microsoft.com/office/drawing/2014/main" val="3066903222"/>
                  </a:ext>
                </a:extLst>
              </a:tr>
              <a:tr h="574365">
                <a:tc>
                  <a:txBody>
                    <a:bodyPr/>
                    <a:lstStyle/>
                    <a:p>
                      <a:r>
                        <a:rPr lang="en-US" dirty="0"/>
                        <a:t>Teacher must be able to assign substitute</a:t>
                      </a:r>
                      <a:endParaRPr lang="en-IN" dirty="0"/>
                    </a:p>
                  </a:txBody>
                  <a:tcPr/>
                </a:tc>
                <a:tc>
                  <a:txBody>
                    <a:bodyPr/>
                    <a:lstStyle/>
                    <a:p>
                      <a:endParaRPr lang="en-US" dirty="0"/>
                    </a:p>
                    <a:p>
                      <a:r>
                        <a:rPr lang="en-US" dirty="0"/>
                        <a:t>      Requirements Met</a:t>
                      </a:r>
                    </a:p>
                  </a:txBody>
                  <a:tcPr/>
                </a:tc>
                <a:extLst>
                  <a:ext uri="{0D108BD9-81ED-4DB2-BD59-A6C34878D82A}">
                    <a16:rowId xmlns="" xmlns:a16="http://schemas.microsoft.com/office/drawing/2014/main" val="2825723864"/>
                  </a:ext>
                </a:extLst>
              </a:tr>
            </a:tbl>
          </a:graphicData>
        </a:graphic>
      </p:graphicFrame>
      <p:graphicFrame>
        <p:nvGraphicFramePr>
          <p:cNvPr id="10" name="Table 10">
            <a:extLst>
              <a:ext uri="{FF2B5EF4-FFF2-40B4-BE49-F238E27FC236}">
                <a16:creationId xmlns="" xmlns:a16="http://schemas.microsoft.com/office/drawing/2014/main" id="{2CB66010-B855-4E41-8266-10559E25F5E6}"/>
              </a:ext>
            </a:extLst>
          </p:cNvPr>
          <p:cNvGraphicFramePr>
            <a:graphicFrameLocks noGrp="1"/>
          </p:cNvGraphicFramePr>
          <p:nvPr>
            <p:extLst>
              <p:ext uri="{D42A27DB-BD31-4B8C-83A1-F6EECF244321}">
                <p14:modId xmlns:p14="http://schemas.microsoft.com/office/powerpoint/2010/main" xmlns="" val="2574633603"/>
              </p:ext>
            </p:extLst>
          </p:nvPr>
        </p:nvGraphicFramePr>
        <p:xfrm>
          <a:off x="2825729" y="23736"/>
          <a:ext cx="4507225" cy="560279"/>
        </p:xfrm>
        <a:graphic>
          <a:graphicData uri="http://schemas.openxmlformats.org/drawingml/2006/table">
            <a:tbl>
              <a:tblPr firstRow="1" bandRow="1">
                <a:tableStyleId>{5C22544A-7EE6-4342-B048-85BDC9FD1C3A}</a:tableStyleId>
              </a:tblPr>
              <a:tblGrid>
                <a:gridCol w="4507225">
                  <a:extLst>
                    <a:ext uri="{9D8B030D-6E8A-4147-A177-3AD203B41FA5}">
                      <a16:colId xmlns="" xmlns:a16="http://schemas.microsoft.com/office/drawing/2014/main" val="2446026886"/>
                    </a:ext>
                  </a:extLst>
                </a:gridCol>
              </a:tblGrid>
              <a:tr h="560279">
                <a:tc>
                  <a:txBody>
                    <a:bodyPr/>
                    <a:lstStyle/>
                    <a:p>
                      <a:r>
                        <a:rPr lang="en-US" sz="2400" dirty="0"/>
                        <a:t>FUNCTIONAL REQUIREMENTS</a:t>
                      </a:r>
                      <a:endParaRPr lang="en-IN" sz="2400" dirty="0"/>
                    </a:p>
                  </a:txBody>
                  <a:tcPr/>
                </a:tc>
                <a:extLst>
                  <a:ext uri="{0D108BD9-81ED-4DB2-BD59-A6C34878D82A}">
                    <a16:rowId xmlns="" xmlns:a16="http://schemas.microsoft.com/office/drawing/2014/main" val="2116226998"/>
                  </a:ext>
                </a:extLst>
              </a:tr>
            </a:tbl>
          </a:graphicData>
        </a:graphic>
      </p:graphicFrame>
    </p:spTree>
    <p:extLst>
      <p:ext uri="{BB962C8B-B14F-4D97-AF65-F5344CB8AC3E}">
        <p14:creationId xmlns:p14="http://schemas.microsoft.com/office/powerpoint/2010/main" xmlns="" val="268497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 xmlns:a16="http://schemas.microsoft.com/office/drawing/2014/main" id="{06760AA6-6CC9-49B9-97CB-18F1F1A1540B}"/>
              </a:ext>
            </a:extLst>
          </p:cNvPr>
          <p:cNvGraphicFramePr>
            <a:graphicFrameLocks noGrp="1"/>
          </p:cNvGraphicFramePr>
          <p:nvPr>
            <p:extLst>
              <p:ext uri="{D42A27DB-BD31-4B8C-83A1-F6EECF244321}">
                <p14:modId xmlns:p14="http://schemas.microsoft.com/office/powerpoint/2010/main" xmlns="" val="697926151"/>
              </p:ext>
            </p:extLst>
          </p:nvPr>
        </p:nvGraphicFramePr>
        <p:xfrm>
          <a:off x="362997" y="976543"/>
          <a:ext cx="9029578" cy="5139433"/>
        </p:xfrm>
        <a:graphic>
          <a:graphicData uri="http://schemas.openxmlformats.org/drawingml/2006/table">
            <a:tbl>
              <a:tblPr firstRow="1" bandRow="1">
                <a:tableStyleId>{5C22544A-7EE6-4342-B048-85BDC9FD1C3A}</a:tableStyleId>
              </a:tblPr>
              <a:tblGrid>
                <a:gridCol w="4621321">
                  <a:extLst>
                    <a:ext uri="{9D8B030D-6E8A-4147-A177-3AD203B41FA5}">
                      <a16:colId xmlns="" xmlns:a16="http://schemas.microsoft.com/office/drawing/2014/main" val="1799946838"/>
                    </a:ext>
                  </a:extLst>
                </a:gridCol>
                <a:gridCol w="4408257">
                  <a:extLst>
                    <a:ext uri="{9D8B030D-6E8A-4147-A177-3AD203B41FA5}">
                      <a16:colId xmlns="" xmlns:a16="http://schemas.microsoft.com/office/drawing/2014/main" val="958574763"/>
                    </a:ext>
                  </a:extLst>
                </a:gridCol>
              </a:tblGrid>
              <a:tr h="441906">
                <a:tc>
                  <a:txBody>
                    <a:bodyPr/>
                    <a:lstStyle/>
                    <a:p>
                      <a:r>
                        <a:rPr lang="en-US" dirty="0"/>
                        <a:t>USER STORY</a:t>
                      </a:r>
                      <a:endParaRPr lang="en-IN" dirty="0"/>
                    </a:p>
                  </a:txBody>
                  <a:tcPr/>
                </a:tc>
                <a:tc>
                  <a:txBody>
                    <a:bodyPr/>
                    <a:lstStyle/>
                    <a:p>
                      <a:r>
                        <a:rPr lang="en-US" dirty="0"/>
                        <a:t>STATUS</a:t>
                      </a:r>
                      <a:endParaRPr lang="en-IN" dirty="0"/>
                    </a:p>
                  </a:txBody>
                  <a:tcPr/>
                </a:tc>
                <a:extLst>
                  <a:ext uri="{0D108BD9-81ED-4DB2-BD59-A6C34878D82A}">
                    <a16:rowId xmlns="" xmlns:a16="http://schemas.microsoft.com/office/drawing/2014/main" val="309356357"/>
                  </a:ext>
                </a:extLst>
              </a:tr>
              <a:tr h="441906">
                <a:tc>
                  <a:txBody>
                    <a:bodyPr/>
                    <a:lstStyle/>
                    <a:p>
                      <a:r>
                        <a:rPr lang="en-US" dirty="0"/>
                        <a:t>Student must be able to login</a:t>
                      </a:r>
                      <a:endParaRPr lang="en-IN" dirty="0"/>
                    </a:p>
                  </a:txBody>
                  <a:tcPr/>
                </a:tc>
                <a:tc>
                  <a:txBody>
                    <a:bodyPr/>
                    <a:lstStyle/>
                    <a:p>
                      <a:r>
                        <a:rPr lang="en-US" dirty="0"/>
                        <a:t>Requirements Met</a:t>
                      </a:r>
                      <a:endParaRPr lang="en-IN" dirty="0"/>
                    </a:p>
                  </a:txBody>
                  <a:tcPr/>
                </a:tc>
                <a:extLst>
                  <a:ext uri="{0D108BD9-81ED-4DB2-BD59-A6C34878D82A}">
                    <a16:rowId xmlns="" xmlns:a16="http://schemas.microsoft.com/office/drawing/2014/main" val="2942249409"/>
                  </a:ext>
                </a:extLst>
              </a:tr>
              <a:tr h="441906">
                <a:tc>
                  <a:txBody>
                    <a:bodyPr/>
                    <a:lstStyle/>
                    <a:p>
                      <a:r>
                        <a:rPr lang="en-US" dirty="0"/>
                        <a:t>Student must be able to view marks</a:t>
                      </a:r>
                      <a:endParaRPr lang="en-IN" dirty="0"/>
                    </a:p>
                  </a:txBody>
                  <a:tcPr/>
                </a:tc>
                <a:tc>
                  <a:txBody>
                    <a:bodyPr/>
                    <a:lstStyle/>
                    <a:p>
                      <a:r>
                        <a:rPr lang="en-US" dirty="0"/>
                        <a:t>Requirements Met</a:t>
                      </a:r>
                      <a:endParaRPr lang="en-IN" dirty="0"/>
                    </a:p>
                  </a:txBody>
                  <a:tcPr/>
                </a:tc>
                <a:extLst>
                  <a:ext uri="{0D108BD9-81ED-4DB2-BD59-A6C34878D82A}">
                    <a16:rowId xmlns="" xmlns:a16="http://schemas.microsoft.com/office/drawing/2014/main" val="1934100866"/>
                  </a:ext>
                </a:extLst>
              </a:tr>
              <a:tr h="762743">
                <a:tc>
                  <a:txBody>
                    <a:bodyPr/>
                    <a:lstStyle/>
                    <a:p>
                      <a:r>
                        <a:rPr lang="en-US" dirty="0"/>
                        <a:t>Student must be able to view time table</a:t>
                      </a:r>
                      <a:endParaRPr lang="en-IN" dirty="0"/>
                    </a:p>
                  </a:txBody>
                  <a:tcPr/>
                </a:tc>
                <a:tc>
                  <a:txBody>
                    <a:bodyPr/>
                    <a:lstStyle/>
                    <a:p>
                      <a:r>
                        <a:rPr lang="en-US" dirty="0"/>
                        <a:t>Requirements Met</a:t>
                      </a:r>
                      <a:endParaRPr lang="en-IN" dirty="0"/>
                    </a:p>
                  </a:txBody>
                  <a:tcPr/>
                </a:tc>
                <a:extLst>
                  <a:ext uri="{0D108BD9-81ED-4DB2-BD59-A6C34878D82A}">
                    <a16:rowId xmlns="" xmlns:a16="http://schemas.microsoft.com/office/drawing/2014/main" val="3546596661"/>
                  </a:ext>
                </a:extLst>
              </a:tr>
              <a:tr h="762743">
                <a:tc>
                  <a:txBody>
                    <a:bodyPr/>
                    <a:lstStyle/>
                    <a:p>
                      <a:r>
                        <a:rPr lang="en-US" dirty="0"/>
                        <a:t>Student must be able to see subject-wise attendance</a:t>
                      </a:r>
                      <a:endParaRPr lang="en-IN" dirty="0"/>
                    </a:p>
                  </a:txBody>
                  <a:tcPr/>
                </a:tc>
                <a:tc>
                  <a:txBody>
                    <a:bodyPr/>
                    <a:lstStyle/>
                    <a:p>
                      <a:r>
                        <a:rPr lang="en-US" dirty="0"/>
                        <a:t>Requirements Met</a:t>
                      </a:r>
                      <a:endParaRPr lang="en-IN" dirty="0"/>
                    </a:p>
                  </a:txBody>
                  <a:tcPr/>
                </a:tc>
                <a:extLst>
                  <a:ext uri="{0D108BD9-81ED-4DB2-BD59-A6C34878D82A}">
                    <a16:rowId xmlns="" xmlns:a16="http://schemas.microsoft.com/office/drawing/2014/main" val="2665810162"/>
                  </a:ext>
                </a:extLst>
              </a:tr>
              <a:tr h="762743">
                <a:tc>
                  <a:txBody>
                    <a:bodyPr/>
                    <a:lstStyle/>
                    <a:p>
                      <a:r>
                        <a:rPr lang="en-US" dirty="0"/>
                        <a:t>Student must be able to give attendance</a:t>
                      </a:r>
                      <a:endParaRPr lang="en-IN" dirty="0"/>
                    </a:p>
                  </a:txBody>
                  <a:tcPr/>
                </a:tc>
                <a:tc>
                  <a:txBody>
                    <a:bodyPr/>
                    <a:lstStyle/>
                    <a:p>
                      <a:r>
                        <a:rPr lang="en-US" dirty="0"/>
                        <a:t>Requirements Met</a:t>
                      </a:r>
                      <a:endParaRPr lang="en-IN" dirty="0"/>
                    </a:p>
                  </a:txBody>
                  <a:tcPr/>
                </a:tc>
                <a:extLst>
                  <a:ext uri="{0D108BD9-81ED-4DB2-BD59-A6C34878D82A}">
                    <a16:rowId xmlns="" xmlns:a16="http://schemas.microsoft.com/office/drawing/2014/main" val="4023243823"/>
                  </a:ext>
                </a:extLst>
              </a:tr>
              <a:tr h="762743">
                <a:tc>
                  <a:txBody>
                    <a:bodyPr/>
                    <a:lstStyle/>
                    <a:p>
                      <a:r>
                        <a:rPr lang="en-US" dirty="0"/>
                        <a:t>Camera availability</a:t>
                      </a:r>
                      <a:endParaRPr lang="en-IN" dirty="0"/>
                    </a:p>
                  </a:txBody>
                  <a:tcPr/>
                </a:tc>
                <a:tc>
                  <a:txBody>
                    <a:bodyPr/>
                    <a:lstStyle/>
                    <a:p>
                      <a:r>
                        <a:rPr lang="en-US" dirty="0"/>
                        <a:t>   MUST BE THERE  </a:t>
                      </a:r>
                      <a:endParaRPr lang="en-IN" dirty="0"/>
                    </a:p>
                  </a:txBody>
                  <a:tcPr/>
                </a:tc>
                <a:extLst>
                  <a:ext uri="{0D108BD9-81ED-4DB2-BD59-A6C34878D82A}">
                    <a16:rowId xmlns="" xmlns:a16="http://schemas.microsoft.com/office/drawing/2014/main" val="697680036"/>
                  </a:ext>
                </a:extLst>
              </a:tr>
              <a:tr h="762743">
                <a:tc>
                  <a:txBody>
                    <a:bodyPr/>
                    <a:lstStyle/>
                    <a:p>
                      <a:r>
                        <a:rPr lang="en-US" dirty="0"/>
                        <a:t>The student’s camera must be turned on automatically</a:t>
                      </a:r>
                      <a:endParaRPr lang="en-IN" dirty="0"/>
                    </a:p>
                  </a:txBody>
                  <a:tcPr/>
                </a:tc>
                <a:tc>
                  <a:txBody>
                    <a:bodyPr/>
                    <a:lstStyle/>
                    <a:p>
                      <a:r>
                        <a:rPr lang="en-US" dirty="0"/>
                        <a:t>Requirements Met</a:t>
                      </a:r>
                      <a:endParaRPr lang="en-IN" dirty="0"/>
                    </a:p>
                  </a:txBody>
                  <a:tcPr/>
                </a:tc>
                <a:extLst>
                  <a:ext uri="{0D108BD9-81ED-4DB2-BD59-A6C34878D82A}">
                    <a16:rowId xmlns="" xmlns:a16="http://schemas.microsoft.com/office/drawing/2014/main" val="582852991"/>
                  </a:ext>
                </a:extLst>
              </a:tr>
            </a:tbl>
          </a:graphicData>
        </a:graphic>
      </p:graphicFrame>
      <p:graphicFrame>
        <p:nvGraphicFramePr>
          <p:cNvPr id="5" name="Table 10">
            <a:extLst>
              <a:ext uri="{FF2B5EF4-FFF2-40B4-BE49-F238E27FC236}">
                <a16:creationId xmlns="" xmlns:a16="http://schemas.microsoft.com/office/drawing/2014/main" id="{4D087D97-74BA-463A-8B74-E1FBE6919B64}"/>
              </a:ext>
            </a:extLst>
          </p:cNvPr>
          <p:cNvGraphicFramePr>
            <a:graphicFrameLocks noGrp="1"/>
          </p:cNvGraphicFramePr>
          <p:nvPr>
            <p:extLst>
              <p:ext uri="{D42A27DB-BD31-4B8C-83A1-F6EECF244321}">
                <p14:modId xmlns:p14="http://schemas.microsoft.com/office/powerpoint/2010/main" xmlns="" val="1110118558"/>
              </p:ext>
            </p:extLst>
          </p:nvPr>
        </p:nvGraphicFramePr>
        <p:xfrm>
          <a:off x="2754708" y="281189"/>
          <a:ext cx="4507225" cy="560279"/>
        </p:xfrm>
        <a:graphic>
          <a:graphicData uri="http://schemas.openxmlformats.org/drawingml/2006/table">
            <a:tbl>
              <a:tblPr firstRow="1" bandRow="1">
                <a:tableStyleId>{5C22544A-7EE6-4342-B048-85BDC9FD1C3A}</a:tableStyleId>
              </a:tblPr>
              <a:tblGrid>
                <a:gridCol w="4507225">
                  <a:extLst>
                    <a:ext uri="{9D8B030D-6E8A-4147-A177-3AD203B41FA5}">
                      <a16:colId xmlns="" xmlns:a16="http://schemas.microsoft.com/office/drawing/2014/main" val="2446026886"/>
                    </a:ext>
                  </a:extLst>
                </a:gridCol>
              </a:tblGrid>
              <a:tr h="560279">
                <a:tc>
                  <a:txBody>
                    <a:bodyPr/>
                    <a:lstStyle/>
                    <a:p>
                      <a:r>
                        <a:rPr lang="en-US" sz="2400" dirty="0"/>
                        <a:t>FUNCTIONAL REQUIREMENTS</a:t>
                      </a:r>
                      <a:endParaRPr lang="en-IN" sz="2400" dirty="0"/>
                    </a:p>
                  </a:txBody>
                  <a:tcPr/>
                </a:tc>
                <a:extLst>
                  <a:ext uri="{0D108BD9-81ED-4DB2-BD59-A6C34878D82A}">
                    <a16:rowId xmlns="" xmlns:a16="http://schemas.microsoft.com/office/drawing/2014/main" val="2116226998"/>
                  </a:ext>
                </a:extLst>
              </a:tr>
            </a:tbl>
          </a:graphicData>
        </a:graphic>
      </p:graphicFrame>
      <p:sp>
        <p:nvSpPr>
          <p:cNvPr id="6" name="Flowchart: Connector 5">
            <a:extLst>
              <a:ext uri="{FF2B5EF4-FFF2-40B4-BE49-F238E27FC236}">
                <a16:creationId xmlns="" xmlns:a16="http://schemas.microsoft.com/office/drawing/2014/main" id="{C2619E06-F937-42D3-BCB2-B27601E5E927}"/>
              </a:ext>
            </a:extLst>
          </p:cNvPr>
          <p:cNvSpPr/>
          <p:nvPr/>
        </p:nvSpPr>
        <p:spPr>
          <a:xfrm>
            <a:off x="5008320" y="4660777"/>
            <a:ext cx="238383" cy="257452"/>
          </a:xfrm>
          <a:prstGeom prst="flowChartConnector">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1760893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 xmlns:a16="http://schemas.microsoft.com/office/drawing/2014/main" id="{7717E466-29A3-4EFD-830E-257335C49CAD}"/>
              </a:ext>
            </a:extLst>
          </p:cNvPr>
          <p:cNvGraphicFramePr>
            <a:graphicFrameLocks noGrp="1"/>
          </p:cNvGraphicFramePr>
          <p:nvPr>
            <p:extLst>
              <p:ext uri="{D42A27DB-BD31-4B8C-83A1-F6EECF244321}">
                <p14:modId xmlns:p14="http://schemas.microsoft.com/office/powerpoint/2010/main" xmlns="" val="2064710779"/>
              </p:ext>
            </p:extLst>
          </p:nvPr>
        </p:nvGraphicFramePr>
        <p:xfrm>
          <a:off x="2344691" y="178128"/>
          <a:ext cx="5158911" cy="532086"/>
        </p:xfrm>
        <a:graphic>
          <a:graphicData uri="http://schemas.openxmlformats.org/drawingml/2006/table">
            <a:tbl>
              <a:tblPr firstRow="1" bandRow="1">
                <a:tableStyleId>{5C22544A-7EE6-4342-B048-85BDC9FD1C3A}</a:tableStyleId>
              </a:tblPr>
              <a:tblGrid>
                <a:gridCol w="5158911">
                  <a:extLst>
                    <a:ext uri="{9D8B030D-6E8A-4147-A177-3AD203B41FA5}">
                      <a16:colId xmlns="" xmlns:a16="http://schemas.microsoft.com/office/drawing/2014/main" val="1599533231"/>
                    </a:ext>
                  </a:extLst>
                </a:gridCol>
              </a:tblGrid>
              <a:tr h="532086">
                <a:tc>
                  <a:txBody>
                    <a:bodyPr/>
                    <a:lstStyle/>
                    <a:p>
                      <a:r>
                        <a:rPr lang="en-US" sz="2400" dirty="0"/>
                        <a:t>NON-FUNCTIONAL REQUIREMENTS</a:t>
                      </a:r>
                      <a:endParaRPr lang="en-IN" sz="2400" dirty="0"/>
                    </a:p>
                  </a:txBody>
                  <a:tcPr/>
                </a:tc>
                <a:extLst>
                  <a:ext uri="{0D108BD9-81ED-4DB2-BD59-A6C34878D82A}">
                    <a16:rowId xmlns="" xmlns:a16="http://schemas.microsoft.com/office/drawing/2014/main" val="1325815544"/>
                  </a:ext>
                </a:extLst>
              </a:tr>
            </a:tbl>
          </a:graphicData>
        </a:graphic>
      </p:graphicFrame>
      <p:graphicFrame>
        <p:nvGraphicFramePr>
          <p:cNvPr id="3" name="Table 3">
            <a:extLst>
              <a:ext uri="{FF2B5EF4-FFF2-40B4-BE49-F238E27FC236}">
                <a16:creationId xmlns="" xmlns:a16="http://schemas.microsoft.com/office/drawing/2014/main" id="{2001DBC0-67F8-46BD-92BD-477BD1CB6683}"/>
              </a:ext>
            </a:extLst>
          </p:cNvPr>
          <p:cNvGraphicFramePr>
            <a:graphicFrameLocks noGrp="1"/>
          </p:cNvGraphicFramePr>
          <p:nvPr>
            <p:extLst>
              <p:ext uri="{D42A27DB-BD31-4B8C-83A1-F6EECF244321}">
                <p14:modId xmlns:p14="http://schemas.microsoft.com/office/powerpoint/2010/main" xmlns="" val="916731420"/>
              </p:ext>
            </p:extLst>
          </p:nvPr>
        </p:nvGraphicFramePr>
        <p:xfrm>
          <a:off x="649054" y="1440689"/>
          <a:ext cx="8550184" cy="3976622"/>
        </p:xfrm>
        <a:graphic>
          <a:graphicData uri="http://schemas.openxmlformats.org/drawingml/2006/table">
            <a:tbl>
              <a:tblPr firstRow="1" bandRow="1">
                <a:tableStyleId>{5C22544A-7EE6-4342-B048-85BDC9FD1C3A}</a:tableStyleId>
              </a:tblPr>
              <a:tblGrid>
                <a:gridCol w="4275092">
                  <a:extLst>
                    <a:ext uri="{9D8B030D-6E8A-4147-A177-3AD203B41FA5}">
                      <a16:colId xmlns="" xmlns:a16="http://schemas.microsoft.com/office/drawing/2014/main" val="926886897"/>
                    </a:ext>
                  </a:extLst>
                </a:gridCol>
                <a:gridCol w="4275092">
                  <a:extLst>
                    <a:ext uri="{9D8B030D-6E8A-4147-A177-3AD203B41FA5}">
                      <a16:colId xmlns="" xmlns:a16="http://schemas.microsoft.com/office/drawing/2014/main" val="2887493671"/>
                    </a:ext>
                  </a:extLst>
                </a:gridCol>
              </a:tblGrid>
              <a:tr h="554642">
                <a:tc>
                  <a:txBody>
                    <a:bodyPr/>
                    <a:lstStyle/>
                    <a:p>
                      <a:r>
                        <a:rPr lang="en-US" dirty="0"/>
                        <a:t>USER STORY</a:t>
                      </a:r>
                      <a:endParaRPr lang="en-IN" dirty="0"/>
                    </a:p>
                  </a:txBody>
                  <a:tcPr/>
                </a:tc>
                <a:tc>
                  <a:txBody>
                    <a:bodyPr/>
                    <a:lstStyle/>
                    <a:p>
                      <a:r>
                        <a:rPr lang="en-US" sz="1800" dirty="0"/>
                        <a:t>STATUS</a:t>
                      </a:r>
                      <a:endParaRPr lang="en-IN" sz="1800" dirty="0"/>
                    </a:p>
                  </a:txBody>
                  <a:tcPr/>
                </a:tc>
                <a:extLst>
                  <a:ext uri="{0D108BD9-81ED-4DB2-BD59-A6C34878D82A}">
                    <a16:rowId xmlns="" xmlns:a16="http://schemas.microsoft.com/office/drawing/2014/main" val="1958074348"/>
                  </a:ext>
                </a:extLst>
              </a:tr>
              <a:tr h="554642">
                <a:tc>
                  <a:txBody>
                    <a:bodyPr/>
                    <a:lstStyle/>
                    <a:p>
                      <a:r>
                        <a:rPr lang="en-US" dirty="0"/>
                        <a:t>UI must be responsive on any device</a:t>
                      </a:r>
                      <a:endParaRPr lang="en-IN" dirty="0"/>
                    </a:p>
                  </a:txBody>
                  <a:tcPr/>
                </a:tc>
                <a:tc>
                  <a:txBody>
                    <a:bodyPr/>
                    <a:lstStyle/>
                    <a:p>
                      <a:r>
                        <a:rPr lang="en-US" sz="1800" dirty="0"/>
                        <a:t>Requirements met</a:t>
                      </a:r>
                      <a:endParaRPr lang="en-IN" sz="1800" dirty="0"/>
                    </a:p>
                  </a:txBody>
                  <a:tcPr/>
                </a:tc>
                <a:extLst>
                  <a:ext uri="{0D108BD9-81ED-4DB2-BD59-A6C34878D82A}">
                    <a16:rowId xmlns="" xmlns:a16="http://schemas.microsoft.com/office/drawing/2014/main" val="3626691728"/>
                  </a:ext>
                </a:extLst>
              </a:tr>
              <a:tr h="952684">
                <a:tc>
                  <a:txBody>
                    <a:bodyPr/>
                    <a:lstStyle/>
                    <a:p>
                      <a:r>
                        <a:rPr lang="en-US" dirty="0"/>
                        <a:t>Uptime must be all the time school/college runs</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Requirements met</a:t>
                      </a:r>
                      <a:endParaRPr lang="en-IN" sz="1800" dirty="0"/>
                    </a:p>
                    <a:p>
                      <a:endParaRPr lang="en-IN" dirty="0"/>
                    </a:p>
                  </a:txBody>
                  <a:tcPr/>
                </a:tc>
                <a:extLst>
                  <a:ext uri="{0D108BD9-81ED-4DB2-BD59-A6C34878D82A}">
                    <a16:rowId xmlns="" xmlns:a16="http://schemas.microsoft.com/office/drawing/2014/main" val="1409904060"/>
                  </a:ext>
                </a:extLst>
              </a:tr>
              <a:tr h="957327">
                <a:tc>
                  <a:txBody>
                    <a:bodyPr/>
                    <a:lstStyle/>
                    <a:p>
                      <a:r>
                        <a:rPr lang="en-US" dirty="0"/>
                        <a:t>HD camera is not required</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Requirements met</a:t>
                      </a:r>
                      <a:endParaRPr lang="en-IN" sz="1800" dirty="0"/>
                    </a:p>
                    <a:p>
                      <a:endParaRPr lang="en-IN" dirty="0"/>
                    </a:p>
                  </a:txBody>
                  <a:tcPr/>
                </a:tc>
                <a:extLst>
                  <a:ext uri="{0D108BD9-81ED-4DB2-BD59-A6C34878D82A}">
                    <a16:rowId xmlns="" xmlns:a16="http://schemas.microsoft.com/office/drawing/2014/main" val="1530830680"/>
                  </a:ext>
                </a:extLst>
              </a:tr>
              <a:tr h="957327">
                <a:tc>
                  <a:txBody>
                    <a:bodyPr/>
                    <a:lstStyle/>
                    <a:p>
                      <a:r>
                        <a:rPr lang="en-US" dirty="0"/>
                        <a:t>Login details need be changed(but to be asked to admin)</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Requirements met</a:t>
                      </a:r>
                      <a:endParaRPr lang="en-IN" sz="1800" dirty="0"/>
                    </a:p>
                    <a:p>
                      <a:endParaRPr lang="en-IN" dirty="0"/>
                    </a:p>
                  </a:txBody>
                  <a:tcPr/>
                </a:tc>
                <a:extLst>
                  <a:ext uri="{0D108BD9-81ED-4DB2-BD59-A6C34878D82A}">
                    <a16:rowId xmlns="" xmlns:a16="http://schemas.microsoft.com/office/drawing/2014/main" val="166288635"/>
                  </a:ext>
                </a:extLst>
              </a:tr>
            </a:tbl>
          </a:graphicData>
        </a:graphic>
      </p:graphicFrame>
    </p:spTree>
    <p:extLst>
      <p:ext uri="{BB962C8B-B14F-4D97-AF65-F5344CB8AC3E}">
        <p14:creationId xmlns:p14="http://schemas.microsoft.com/office/powerpoint/2010/main" xmlns="" val="2948113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 xmlns:a16="http://schemas.microsoft.com/office/drawing/2014/main" id="{A51ABCE6-603B-4797-82BC-FCEFA15FBA03}"/>
              </a:ext>
            </a:extLst>
          </p:cNvPr>
          <p:cNvGraphicFramePr>
            <a:graphicFrameLocks noGrp="1"/>
          </p:cNvGraphicFramePr>
          <p:nvPr>
            <p:extLst>
              <p:ext uri="{D42A27DB-BD31-4B8C-83A1-F6EECF244321}">
                <p14:modId xmlns:p14="http://schemas.microsoft.com/office/powerpoint/2010/main" xmlns="" val="1079333283"/>
              </p:ext>
            </p:extLst>
          </p:nvPr>
        </p:nvGraphicFramePr>
        <p:xfrm>
          <a:off x="0" y="928293"/>
          <a:ext cx="11462058" cy="5929707"/>
        </p:xfrm>
        <a:graphic>
          <a:graphicData uri="http://schemas.openxmlformats.org/drawingml/2006/table">
            <a:tbl>
              <a:tblPr firstRow="1" bandRow="1">
                <a:tableStyleId>{5C22544A-7EE6-4342-B048-85BDC9FD1C3A}</a:tableStyleId>
              </a:tblPr>
              <a:tblGrid>
                <a:gridCol w="1910343">
                  <a:extLst>
                    <a:ext uri="{9D8B030D-6E8A-4147-A177-3AD203B41FA5}">
                      <a16:colId xmlns="" xmlns:a16="http://schemas.microsoft.com/office/drawing/2014/main" val="1883103427"/>
                    </a:ext>
                  </a:extLst>
                </a:gridCol>
                <a:gridCol w="1910343">
                  <a:extLst>
                    <a:ext uri="{9D8B030D-6E8A-4147-A177-3AD203B41FA5}">
                      <a16:colId xmlns="" xmlns:a16="http://schemas.microsoft.com/office/drawing/2014/main" val="2196212899"/>
                    </a:ext>
                  </a:extLst>
                </a:gridCol>
                <a:gridCol w="1910343">
                  <a:extLst>
                    <a:ext uri="{9D8B030D-6E8A-4147-A177-3AD203B41FA5}">
                      <a16:colId xmlns="" xmlns:a16="http://schemas.microsoft.com/office/drawing/2014/main" val="519941391"/>
                    </a:ext>
                  </a:extLst>
                </a:gridCol>
                <a:gridCol w="1910343">
                  <a:extLst>
                    <a:ext uri="{9D8B030D-6E8A-4147-A177-3AD203B41FA5}">
                      <a16:colId xmlns="" xmlns:a16="http://schemas.microsoft.com/office/drawing/2014/main" val="2007748121"/>
                    </a:ext>
                  </a:extLst>
                </a:gridCol>
                <a:gridCol w="1910343">
                  <a:extLst>
                    <a:ext uri="{9D8B030D-6E8A-4147-A177-3AD203B41FA5}">
                      <a16:colId xmlns="" xmlns:a16="http://schemas.microsoft.com/office/drawing/2014/main" val="2788110353"/>
                    </a:ext>
                  </a:extLst>
                </a:gridCol>
                <a:gridCol w="1910343">
                  <a:extLst>
                    <a:ext uri="{9D8B030D-6E8A-4147-A177-3AD203B41FA5}">
                      <a16:colId xmlns="" xmlns:a16="http://schemas.microsoft.com/office/drawing/2014/main" val="622487653"/>
                    </a:ext>
                  </a:extLst>
                </a:gridCol>
              </a:tblGrid>
              <a:tr h="613316">
                <a:tc>
                  <a:txBody>
                    <a:bodyPr/>
                    <a:lstStyle/>
                    <a:p>
                      <a:r>
                        <a:rPr lang="en-US" dirty="0"/>
                        <a:t>Attribute Name</a:t>
                      </a:r>
                      <a:endParaRPr lang="en-IN" dirty="0"/>
                    </a:p>
                  </a:txBody>
                  <a:tcPr/>
                </a:tc>
                <a:tc>
                  <a:txBody>
                    <a:bodyPr/>
                    <a:lstStyle/>
                    <a:p>
                      <a:r>
                        <a:rPr lang="en-US" dirty="0"/>
                        <a:t>Required</a:t>
                      </a:r>
                      <a:endParaRPr lang="en-IN" dirty="0"/>
                    </a:p>
                  </a:txBody>
                  <a:tcPr/>
                </a:tc>
                <a:tc>
                  <a:txBody>
                    <a:bodyPr/>
                    <a:lstStyle/>
                    <a:p>
                      <a:r>
                        <a:rPr lang="en-US" dirty="0"/>
                        <a:t>Data Type</a:t>
                      </a:r>
                      <a:endParaRPr lang="en-IN" dirty="0"/>
                    </a:p>
                  </a:txBody>
                  <a:tcPr/>
                </a:tc>
                <a:tc>
                  <a:txBody>
                    <a:bodyPr/>
                    <a:lstStyle/>
                    <a:p>
                      <a:r>
                        <a:rPr lang="en-US" dirty="0"/>
                        <a:t>Max Field Size</a:t>
                      </a:r>
                      <a:endParaRPr lang="en-IN" dirty="0"/>
                    </a:p>
                  </a:txBody>
                  <a:tcPr/>
                </a:tc>
                <a:tc>
                  <a:txBody>
                    <a:bodyPr/>
                    <a:lstStyle/>
                    <a:p>
                      <a:r>
                        <a:rPr lang="en-US" dirty="0"/>
                        <a:t>Description</a:t>
                      </a:r>
                      <a:endParaRPr lang="en-IN" dirty="0"/>
                    </a:p>
                  </a:txBody>
                  <a:tcPr/>
                </a:tc>
                <a:tc>
                  <a:txBody>
                    <a:bodyPr/>
                    <a:lstStyle/>
                    <a:p>
                      <a:r>
                        <a:rPr lang="en-US" dirty="0"/>
                        <a:t>Example</a:t>
                      </a:r>
                      <a:endParaRPr lang="en-IN" dirty="0"/>
                    </a:p>
                  </a:txBody>
                  <a:tcPr/>
                </a:tc>
                <a:extLst>
                  <a:ext uri="{0D108BD9-81ED-4DB2-BD59-A6C34878D82A}">
                    <a16:rowId xmlns="" xmlns:a16="http://schemas.microsoft.com/office/drawing/2014/main" val="1422442815"/>
                  </a:ext>
                </a:extLst>
              </a:tr>
              <a:tr h="1049579">
                <a:tc>
                  <a:txBody>
                    <a:bodyPr/>
                    <a:lstStyle/>
                    <a:p>
                      <a:r>
                        <a:rPr lang="en-US" dirty="0"/>
                        <a:t>Class_ID</a:t>
                      </a:r>
                      <a:endParaRPr lang="en-IN" dirty="0"/>
                    </a:p>
                  </a:txBody>
                  <a:tcPr/>
                </a:tc>
                <a:tc>
                  <a:txBody>
                    <a:bodyPr/>
                    <a:lstStyle/>
                    <a:p>
                      <a:r>
                        <a:rPr lang="en-US" dirty="0"/>
                        <a:t>Yes</a:t>
                      </a:r>
                      <a:endParaRPr lang="en-IN" dirty="0"/>
                    </a:p>
                  </a:txBody>
                  <a:tcPr/>
                </a:tc>
                <a:tc>
                  <a:txBody>
                    <a:bodyPr/>
                    <a:lstStyle/>
                    <a:p>
                      <a:r>
                        <a:rPr lang="en-US" dirty="0"/>
                        <a:t>String</a:t>
                      </a:r>
                      <a:endParaRPr lang="en-IN" dirty="0"/>
                    </a:p>
                  </a:txBody>
                  <a:tcPr/>
                </a:tc>
                <a:tc>
                  <a:txBody>
                    <a:bodyPr/>
                    <a:lstStyle/>
                    <a:p>
                      <a:r>
                        <a:rPr lang="en-US" dirty="0"/>
                        <a:t>N/A</a:t>
                      </a:r>
                      <a:endParaRPr lang="en-IN" dirty="0"/>
                    </a:p>
                  </a:txBody>
                  <a:tcPr/>
                </a:tc>
                <a:tc>
                  <a:txBody>
                    <a:bodyPr/>
                    <a:lstStyle/>
                    <a:p>
                      <a:r>
                        <a:rPr lang="en-US" dirty="0"/>
                        <a:t>Class that is to be added or accessed</a:t>
                      </a:r>
                      <a:endParaRPr lang="en-IN" dirty="0"/>
                    </a:p>
                  </a:txBody>
                  <a:tcPr/>
                </a:tc>
                <a:tc>
                  <a:txBody>
                    <a:bodyPr/>
                    <a:lstStyle/>
                    <a:p>
                      <a:r>
                        <a:rPr lang="en-US" dirty="0"/>
                        <a:t>MSDS</a:t>
                      </a:r>
                      <a:endParaRPr lang="en-IN" dirty="0"/>
                    </a:p>
                  </a:txBody>
                  <a:tcPr/>
                </a:tc>
                <a:extLst>
                  <a:ext uri="{0D108BD9-81ED-4DB2-BD59-A6C34878D82A}">
                    <a16:rowId xmlns="" xmlns:a16="http://schemas.microsoft.com/office/drawing/2014/main" val="2075551993"/>
                  </a:ext>
                </a:extLst>
              </a:tr>
              <a:tr h="1118075">
                <a:tc>
                  <a:txBody>
                    <a:bodyPr/>
                    <a:lstStyle/>
                    <a:p>
                      <a:r>
                        <a:rPr lang="en-US" dirty="0"/>
                        <a:t>Dept_ID</a:t>
                      </a:r>
                      <a:endParaRPr lang="en-IN" dirty="0"/>
                    </a:p>
                  </a:txBody>
                  <a:tcPr/>
                </a:tc>
                <a:tc>
                  <a:txBody>
                    <a:bodyPr/>
                    <a:lstStyle/>
                    <a:p>
                      <a:r>
                        <a:rPr lang="en-US" dirty="0"/>
                        <a:t>Yes</a:t>
                      </a:r>
                      <a:endParaRPr lang="en-IN" dirty="0"/>
                    </a:p>
                  </a:txBody>
                  <a:tcPr/>
                </a:tc>
                <a:tc>
                  <a:txBody>
                    <a:bodyPr/>
                    <a:lstStyle/>
                    <a:p>
                      <a:r>
                        <a:rPr lang="en-US" dirty="0"/>
                        <a:t>String</a:t>
                      </a:r>
                      <a:endParaRPr lang="en-IN" dirty="0"/>
                    </a:p>
                  </a:txBody>
                  <a:tcPr/>
                </a:tc>
                <a:tc>
                  <a:txBody>
                    <a:bodyPr/>
                    <a:lstStyle/>
                    <a:p>
                      <a:r>
                        <a:rPr lang="en-US" dirty="0"/>
                        <a:t>N/A</a:t>
                      </a:r>
                      <a:endParaRPr lang="en-IN" dirty="0"/>
                    </a:p>
                  </a:txBody>
                  <a:tcPr/>
                </a:tc>
                <a:tc>
                  <a:txBody>
                    <a:bodyPr/>
                    <a:lstStyle/>
                    <a:p>
                      <a:r>
                        <a:rPr lang="en-US" dirty="0"/>
                        <a:t>Department that the class is to be added</a:t>
                      </a:r>
                      <a:endParaRPr lang="en-IN" dirty="0"/>
                    </a:p>
                  </a:txBody>
                  <a:tcPr/>
                </a:tc>
                <a:tc>
                  <a:txBody>
                    <a:bodyPr/>
                    <a:lstStyle/>
                    <a:p>
                      <a:r>
                        <a:rPr lang="en-US" dirty="0"/>
                        <a:t>Data Science</a:t>
                      </a:r>
                      <a:endParaRPr lang="en-IN" dirty="0"/>
                    </a:p>
                  </a:txBody>
                  <a:tcPr/>
                </a:tc>
                <a:extLst>
                  <a:ext uri="{0D108BD9-81ED-4DB2-BD59-A6C34878D82A}">
                    <a16:rowId xmlns="" xmlns:a16="http://schemas.microsoft.com/office/drawing/2014/main" val="220661712"/>
                  </a:ext>
                </a:extLst>
              </a:tr>
              <a:tr h="1049579">
                <a:tc>
                  <a:txBody>
                    <a:bodyPr/>
                    <a:lstStyle/>
                    <a:p>
                      <a:r>
                        <a:rPr lang="en-US" dirty="0"/>
                        <a:t>Section_ID</a:t>
                      </a:r>
                      <a:endParaRPr lang="en-IN" dirty="0"/>
                    </a:p>
                  </a:txBody>
                  <a:tcPr/>
                </a:tc>
                <a:tc>
                  <a:txBody>
                    <a:bodyPr/>
                    <a:lstStyle/>
                    <a:p>
                      <a:r>
                        <a:rPr lang="en-US" dirty="0"/>
                        <a:t>Yes</a:t>
                      </a:r>
                      <a:endParaRPr lang="en-IN" dirty="0"/>
                    </a:p>
                  </a:txBody>
                  <a:tcPr/>
                </a:tc>
                <a:tc>
                  <a:txBody>
                    <a:bodyPr/>
                    <a:lstStyle/>
                    <a:p>
                      <a:r>
                        <a:rPr lang="en-US" dirty="0"/>
                        <a:t>String</a:t>
                      </a:r>
                      <a:endParaRPr lang="en-IN" dirty="0"/>
                    </a:p>
                  </a:txBody>
                  <a:tcPr/>
                </a:tc>
                <a:tc>
                  <a:txBody>
                    <a:bodyPr/>
                    <a:lstStyle/>
                    <a:p>
                      <a:r>
                        <a:rPr lang="en-US" dirty="0"/>
                        <a:t>N/A</a:t>
                      </a:r>
                      <a:endParaRPr lang="en-IN" dirty="0"/>
                    </a:p>
                  </a:txBody>
                  <a:tcPr/>
                </a:tc>
                <a:tc>
                  <a:txBody>
                    <a:bodyPr/>
                    <a:lstStyle/>
                    <a:p>
                      <a:r>
                        <a:rPr lang="en-US" dirty="0"/>
                        <a:t>Section of the added class</a:t>
                      </a:r>
                      <a:endParaRPr lang="en-IN" dirty="0"/>
                    </a:p>
                  </a:txBody>
                  <a:tcPr/>
                </a:tc>
                <a:tc>
                  <a:txBody>
                    <a:bodyPr/>
                    <a:lstStyle/>
                    <a:p>
                      <a:r>
                        <a:rPr lang="en-US" dirty="0"/>
                        <a:t>MSDS(A)</a:t>
                      </a:r>
                      <a:endParaRPr lang="en-IN" dirty="0"/>
                    </a:p>
                  </a:txBody>
                  <a:tcPr/>
                </a:tc>
                <a:extLst>
                  <a:ext uri="{0D108BD9-81ED-4DB2-BD59-A6C34878D82A}">
                    <a16:rowId xmlns="" xmlns:a16="http://schemas.microsoft.com/office/drawing/2014/main" val="2855390821"/>
                  </a:ext>
                </a:extLst>
              </a:tr>
              <a:tr h="1049579">
                <a:tc>
                  <a:txBody>
                    <a:bodyPr/>
                    <a:lstStyle/>
                    <a:p>
                      <a:r>
                        <a:rPr lang="en-US" dirty="0"/>
                        <a:t>Sem_ID</a:t>
                      </a:r>
                      <a:endParaRPr lang="en-IN" dirty="0"/>
                    </a:p>
                  </a:txBody>
                  <a:tcPr/>
                </a:tc>
                <a:tc>
                  <a:txBody>
                    <a:bodyPr/>
                    <a:lstStyle/>
                    <a:p>
                      <a:r>
                        <a:rPr lang="en-US" dirty="0"/>
                        <a:t>Yes</a:t>
                      </a:r>
                      <a:endParaRPr lang="en-IN" dirty="0"/>
                    </a:p>
                  </a:txBody>
                  <a:tcPr/>
                </a:tc>
                <a:tc>
                  <a:txBody>
                    <a:bodyPr/>
                    <a:lstStyle/>
                    <a:p>
                      <a:r>
                        <a:rPr lang="en-US" dirty="0"/>
                        <a:t>Integer</a:t>
                      </a:r>
                      <a:endParaRPr lang="en-IN" dirty="0"/>
                    </a:p>
                  </a:txBody>
                  <a:tcPr/>
                </a:tc>
                <a:tc>
                  <a:txBody>
                    <a:bodyPr/>
                    <a:lstStyle/>
                    <a:p>
                      <a:r>
                        <a:rPr lang="en-US" dirty="0"/>
                        <a:t>1 character</a:t>
                      </a:r>
                      <a:endParaRPr lang="en-IN" dirty="0"/>
                    </a:p>
                  </a:txBody>
                  <a:tcPr/>
                </a:tc>
                <a:tc>
                  <a:txBody>
                    <a:bodyPr/>
                    <a:lstStyle/>
                    <a:p>
                      <a:r>
                        <a:rPr lang="en-US" dirty="0"/>
                        <a:t>Semester that the class is added for</a:t>
                      </a:r>
                      <a:endParaRPr lang="en-IN" dirty="0"/>
                    </a:p>
                  </a:txBody>
                  <a:tcPr/>
                </a:tc>
                <a:tc>
                  <a:txBody>
                    <a:bodyPr/>
                    <a:lstStyle/>
                    <a:p>
                      <a:r>
                        <a:rPr lang="en-US" dirty="0"/>
                        <a:t>4</a:t>
                      </a:r>
                      <a:endParaRPr lang="en-IN" dirty="0"/>
                    </a:p>
                  </a:txBody>
                  <a:tcPr/>
                </a:tc>
                <a:extLst>
                  <a:ext uri="{0D108BD9-81ED-4DB2-BD59-A6C34878D82A}">
                    <a16:rowId xmlns="" xmlns:a16="http://schemas.microsoft.com/office/drawing/2014/main" val="2620809793"/>
                  </a:ext>
                </a:extLst>
              </a:tr>
              <a:tr h="1049579">
                <a:tc>
                  <a:txBody>
                    <a:bodyPr/>
                    <a:lstStyle/>
                    <a:p>
                      <a:r>
                        <a:rPr lang="en-US" dirty="0"/>
                        <a:t>USN_ID</a:t>
                      </a:r>
                      <a:endParaRPr lang="en-IN" dirty="0"/>
                    </a:p>
                  </a:txBody>
                  <a:tcPr/>
                </a:tc>
                <a:tc>
                  <a:txBody>
                    <a:bodyPr/>
                    <a:lstStyle/>
                    <a:p>
                      <a:r>
                        <a:rPr lang="en-US" dirty="0"/>
                        <a:t>Yes</a:t>
                      </a:r>
                      <a:endParaRPr lang="en-IN" dirty="0"/>
                    </a:p>
                  </a:txBody>
                  <a:tcPr/>
                </a:tc>
                <a:tc>
                  <a:txBody>
                    <a:bodyPr/>
                    <a:lstStyle/>
                    <a:p>
                      <a:r>
                        <a:rPr lang="en-US" dirty="0"/>
                        <a:t>String</a:t>
                      </a:r>
                      <a:endParaRPr lang="en-IN" dirty="0"/>
                    </a:p>
                  </a:txBody>
                  <a:tcPr/>
                </a:tc>
                <a:tc>
                  <a:txBody>
                    <a:bodyPr/>
                    <a:lstStyle/>
                    <a:p>
                      <a:r>
                        <a:rPr lang="en-US" dirty="0"/>
                        <a:t>N/A</a:t>
                      </a:r>
                      <a:endParaRPr lang="en-IN" dirty="0"/>
                    </a:p>
                  </a:txBody>
                  <a:tcPr/>
                </a:tc>
                <a:tc>
                  <a:txBody>
                    <a:bodyPr/>
                    <a:lstStyle/>
                    <a:p>
                      <a:r>
                        <a:rPr lang="en-US" dirty="0"/>
                        <a:t>User name to login which is dynamic</a:t>
                      </a:r>
                      <a:endParaRPr lang="en-IN" dirty="0"/>
                    </a:p>
                  </a:txBody>
                  <a:tcPr/>
                </a:tc>
                <a:tc>
                  <a:txBody>
                    <a:bodyPr/>
                    <a:lstStyle/>
                    <a:p>
                      <a:r>
                        <a:rPr lang="en-US" dirty="0"/>
                        <a:t>varaprasad</a:t>
                      </a:r>
                      <a:endParaRPr lang="en-IN" dirty="0"/>
                    </a:p>
                  </a:txBody>
                  <a:tcPr/>
                </a:tc>
                <a:extLst>
                  <a:ext uri="{0D108BD9-81ED-4DB2-BD59-A6C34878D82A}">
                    <a16:rowId xmlns="" xmlns:a16="http://schemas.microsoft.com/office/drawing/2014/main" val="2829535631"/>
                  </a:ext>
                </a:extLst>
              </a:tr>
            </a:tbl>
          </a:graphicData>
        </a:graphic>
      </p:graphicFrame>
      <p:sp>
        <p:nvSpPr>
          <p:cNvPr id="4" name="Rectangle 3">
            <a:extLst>
              <a:ext uri="{FF2B5EF4-FFF2-40B4-BE49-F238E27FC236}">
                <a16:creationId xmlns="" xmlns:a16="http://schemas.microsoft.com/office/drawing/2014/main" id="{59633780-1B25-4DF1-88C8-29EFFE09DE17}"/>
              </a:ext>
            </a:extLst>
          </p:cNvPr>
          <p:cNvSpPr/>
          <p:nvPr/>
        </p:nvSpPr>
        <p:spPr>
          <a:xfrm>
            <a:off x="729942" y="97296"/>
            <a:ext cx="4614139" cy="830997"/>
          </a:xfrm>
          <a:prstGeom prst="rect">
            <a:avLst/>
          </a:prstGeom>
          <a:noFill/>
        </p:spPr>
        <p:txBody>
          <a:bodyPr wrap="square" lIns="91440" tIns="45720" rIns="91440" bIns="45720">
            <a:spAutoFit/>
          </a:bodyPr>
          <a:lstStyle/>
          <a:p>
            <a:pPr algn="ctr"/>
            <a:r>
              <a:rPr lang="en-US" sz="4800" b="1" cap="none" spc="0" dirty="0">
                <a:ln w="22225">
                  <a:solidFill>
                    <a:schemeClr val="accent2"/>
                  </a:solidFill>
                  <a:prstDash val="solid"/>
                </a:ln>
                <a:solidFill>
                  <a:schemeClr val="accent2">
                    <a:lumMod val="40000"/>
                    <a:lumOff val="60000"/>
                  </a:schemeClr>
                </a:solidFill>
                <a:effectLst/>
              </a:rPr>
              <a:t>Data Dictionary</a:t>
            </a:r>
          </a:p>
        </p:txBody>
      </p:sp>
    </p:spTree>
    <p:extLst>
      <p:ext uri="{BB962C8B-B14F-4D97-AF65-F5344CB8AC3E}">
        <p14:creationId xmlns:p14="http://schemas.microsoft.com/office/powerpoint/2010/main" xmlns="" val="4239769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3.png">
            <a:extLst>
              <a:ext uri="{FF2B5EF4-FFF2-40B4-BE49-F238E27FC236}">
                <a16:creationId xmlns="" xmlns:a16="http://schemas.microsoft.com/office/drawing/2014/main" id="{B7523A31-2788-4246-93FA-DB500F0CF78B}"/>
              </a:ext>
            </a:extLst>
          </p:cNvPr>
          <p:cNvPicPr/>
          <p:nvPr/>
        </p:nvPicPr>
        <p:blipFill>
          <a:blip r:embed="rId2"/>
          <a:srcRect/>
          <a:stretch>
            <a:fillRect/>
          </a:stretch>
        </p:blipFill>
        <p:spPr>
          <a:xfrm>
            <a:off x="665087" y="1041646"/>
            <a:ext cx="4247572" cy="5381349"/>
          </a:xfrm>
          <a:prstGeom prst="rect">
            <a:avLst/>
          </a:prstGeom>
          <a:ln/>
        </p:spPr>
      </p:pic>
      <p:sp>
        <p:nvSpPr>
          <p:cNvPr id="3" name="TextBox 2">
            <a:extLst>
              <a:ext uri="{FF2B5EF4-FFF2-40B4-BE49-F238E27FC236}">
                <a16:creationId xmlns="" xmlns:a16="http://schemas.microsoft.com/office/drawing/2014/main" id="{92DE1382-6072-4785-862B-9F865C06BECD}"/>
              </a:ext>
            </a:extLst>
          </p:cNvPr>
          <p:cNvSpPr txBox="1"/>
          <p:nvPr/>
        </p:nvSpPr>
        <p:spPr>
          <a:xfrm>
            <a:off x="665088" y="435005"/>
            <a:ext cx="3702726" cy="369332"/>
          </a:xfrm>
          <a:prstGeom prst="rect">
            <a:avLst/>
          </a:prstGeom>
          <a:noFill/>
        </p:spPr>
        <p:txBody>
          <a:bodyPr wrap="square" rtlCol="0">
            <a:spAutoFit/>
          </a:bodyPr>
          <a:lstStyle/>
          <a:p>
            <a:r>
              <a:rPr lang="en-US" dirty="0"/>
              <a:t>Administration Use Case Diagram</a:t>
            </a:r>
            <a:endParaRPr lang="en-IN" dirty="0"/>
          </a:p>
        </p:txBody>
      </p:sp>
      <p:pic>
        <p:nvPicPr>
          <p:cNvPr id="5" name="image34.png">
            <a:extLst>
              <a:ext uri="{FF2B5EF4-FFF2-40B4-BE49-F238E27FC236}">
                <a16:creationId xmlns="" xmlns:a16="http://schemas.microsoft.com/office/drawing/2014/main" id="{F142C737-531F-4CA1-907B-CC89433F1B8C}"/>
              </a:ext>
            </a:extLst>
          </p:cNvPr>
          <p:cNvPicPr/>
          <p:nvPr/>
        </p:nvPicPr>
        <p:blipFill>
          <a:blip r:embed="rId3"/>
          <a:srcRect/>
          <a:stretch>
            <a:fillRect/>
          </a:stretch>
        </p:blipFill>
        <p:spPr>
          <a:xfrm>
            <a:off x="4979205" y="1041646"/>
            <a:ext cx="5330208" cy="5785312"/>
          </a:xfrm>
          <a:prstGeom prst="rect">
            <a:avLst/>
          </a:prstGeom>
          <a:ln/>
        </p:spPr>
      </p:pic>
      <p:sp>
        <p:nvSpPr>
          <p:cNvPr id="7" name="TextBox 6">
            <a:extLst>
              <a:ext uri="{FF2B5EF4-FFF2-40B4-BE49-F238E27FC236}">
                <a16:creationId xmlns="" xmlns:a16="http://schemas.microsoft.com/office/drawing/2014/main" id="{1ACAECF4-219E-431C-A437-F2514428259C}"/>
              </a:ext>
            </a:extLst>
          </p:cNvPr>
          <p:cNvSpPr txBox="1"/>
          <p:nvPr/>
        </p:nvSpPr>
        <p:spPr>
          <a:xfrm>
            <a:off x="5051268" y="435005"/>
            <a:ext cx="6100482" cy="369332"/>
          </a:xfrm>
          <a:prstGeom prst="rect">
            <a:avLst/>
          </a:prstGeom>
          <a:noFill/>
        </p:spPr>
        <p:txBody>
          <a:bodyPr wrap="square">
            <a:spAutoFit/>
          </a:bodyPr>
          <a:lstStyle/>
          <a:p>
            <a:r>
              <a:rPr lang="en-US" dirty="0"/>
              <a:t>Free Hour Incorporation Use Case Diagram</a:t>
            </a:r>
            <a:endParaRPr lang="en-IN" dirty="0"/>
          </a:p>
        </p:txBody>
      </p:sp>
      <p:sp>
        <p:nvSpPr>
          <p:cNvPr id="8" name="Rectangle 7">
            <a:extLst>
              <a:ext uri="{FF2B5EF4-FFF2-40B4-BE49-F238E27FC236}">
                <a16:creationId xmlns="" xmlns:a16="http://schemas.microsoft.com/office/drawing/2014/main" id="{2AE5214A-D621-44D5-8196-61BF53D4A1B2}"/>
              </a:ext>
            </a:extLst>
          </p:cNvPr>
          <p:cNvSpPr/>
          <p:nvPr/>
        </p:nvSpPr>
        <p:spPr>
          <a:xfrm>
            <a:off x="6302926" y="6072183"/>
            <a:ext cx="388620" cy="16002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Tree>
    <p:extLst>
      <p:ext uri="{BB962C8B-B14F-4D97-AF65-F5344CB8AC3E}">
        <p14:creationId xmlns:p14="http://schemas.microsoft.com/office/powerpoint/2010/main" xmlns="" val="1136452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26.png">
            <a:extLst>
              <a:ext uri="{FF2B5EF4-FFF2-40B4-BE49-F238E27FC236}">
                <a16:creationId xmlns="" xmlns:a16="http://schemas.microsoft.com/office/drawing/2014/main" id="{5B3B8A8E-8FDC-4324-9FA6-13C0720B2F28}"/>
              </a:ext>
            </a:extLst>
          </p:cNvPr>
          <p:cNvPicPr/>
          <p:nvPr/>
        </p:nvPicPr>
        <p:blipFill>
          <a:blip r:embed="rId2"/>
          <a:srcRect/>
          <a:stretch>
            <a:fillRect/>
          </a:stretch>
        </p:blipFill>
        <p:spPr>
          <a:xfrm>
            <a:off x="814526" y="1309580"/>
            <a:ext cx="5943600" cy="5397500"/>
          </a:xfrm>
          <a:prstGeom prst="rect">
            <a:avLst/>
          </a:prstGeom>
          <a:ln/>
        </p:spPr>
      </p:pic>
      <p:sp>
        <p:nvSpPr>
          <p:cNvPr id="3" name="TextBox 2">
            <a:extLst>
              <a:ext uri="{FF2B5EF4-FFF2-40B4-BE49-F238E27FC236}">
                <a16:creationId xmlns="" xmlns:a16="http://schemas.microsoft.com/office/drawing/2014/main" id="{46BAB359-5ED4-4D92-81E2-961EC9800DD4}"/>
              </a:ext>
            </a:extLst>
          </p:cNvPr>
          <p:cNvSpPr txBox="1"/>
          <p:nvPr/>
        </p:nvSpPr>
        <p:spPr>
          <a:xfrm>
            <a:off x="1642369" y="355107"/>
            <a:ext cx="4287914" cy="646331"/>
          </a:xfrm>
          <a:prstGeom prst="rect">
            <a:avLst/>
          </a:prstGeom>
          <a:noFill/>
        </p:spPr>
        <p:txBody>
          <a:bodyPr wrap="square" rtlCol="0">
            <a:spAutoFit/>
          </a:bodyPr>
          <a:lstStyle/>
          <a:p>
            <a:r>
              <a:rPr lang="en-US" dirty="0"/>
              <a:t>Face Recognition Model Use Case Diagram</a:t>
            </a:r>
            <a:endParaRPr lang="en-IN" dirty="0"/>
          </a:p>
        </p:txBody>
      </p:sp>
    </p:spTree>
    <p:extLst>
      <p:ext uri="{BB962C8B-B14F-4D97-AF65-F5344CB8AC3E}">
        <p14:creationId xmlns:p14="http://schemas.microsoft.com/office/powerpoint/2010/main" xmlns="" val="3352544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C626BAA6-55DE-4D44-9811-980C2AA4BB41}"/>
              </a:ext>
            </a:extLst>
          </p:cNvPr>
          <p:cNvSpPr txBox="1"/>
          <p:nvPr/>
        </p:nvSpPr>
        <p:spPr>
          <a:xfrm>
            <a:off x="3728621" y="88777"/>
            <a:ext cx="6409677" cy="369332"/>
          </a:xfrm>
          <a:prstGeom prst="rect">
            <a:avLst/>
          </a:prstGeom>
          <a:noFill/>
        </p:spPr>
        <p:txBody>
          <a:bodyPr wrap="square" rtlCol="0">
            <a:spAutoFit/>
          </a:bodyPr>
          <a:lstStyle/>
          <a:p>
            <a:r>
              <a:rPr lang="en-US" dirty="0"/>
              <a:t>Student Collaboration Diagram</a:t>
            </a:r>
            <a:endParaRPr lang="en-IN" dirty="0"/>
          </a:p>
        </p:txBody>
      </p:sp>
      <p:pic>
        <p:nvPicPr>
          <p:cNvPr id="4" name="Picture 3">
            <a:extLst>
              <a:ext uri="{FF2B5EF4-FFF2-40B4-BE49-F238E27FC236}">
                <a16:creationId xmlns="" xmlns:a16="http://schemas.microsoft.com/office/drawing/2014/main" id="{EA7AB441-DF82-4D1F-ABC4-2C867299D155}"/>
              </a:ext>
            </a:extLst>
          </p:cNvPr>
          <p:cNvPicPr>
            <a:picLocks noChangeAspect="1"/>
          </p:cNvPicPr>
          <p:nvPr/>
        </p:nvPicPr>
        <p:blipFill>
          <a:blip r:embed="rId2"/>
          <a:stretch>
            <a:fillRect/>
          </a:stretch>
        </p:blipFill>
        <p:spPr>
          <a:xfrm>
            <a:off x="1540181" y="755208"/>
            <a:ext cx="7300593" cy="5631668"/>
          </a:xfrm>
          <a:prstGeom prst="rect">
            <a:avLst/>
          </a:prstGeom>
        </p:spPr>
      </p:pic>
    </p:spTree>
    <p:extLst>
      <p:ext uri="{BB962C8B-B14F-4D97-AF65-F5344CB8AC3E}">
        <p14:creationId xmlns:p14="http://schemas.microsoft.com/office/powerpoint/2010/main" xmlns="" val="215125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729411C-1D16-495A-A51F-71FB57E888E9}"/>
              </a:ext>
            </a:extLst>
          </p:cNvPr>
          <p:cNvPicPr>
            <a:picLocks noChangeAspect="1"/>
          </p:cNvPicPr>
          <p:nvPr/>
        </p:nvPicPr>
        <p:blipFill>
          <a:blip r:embed="rId2"/>
          <a:stretch>
            <a:fillRect/>
          </a:stretch>
        </p:blipFill>
        <p:spPr>
          <a:xfrm>
            <a:off x="95791" y="958648"/>
            <a:ext cx="10409938" cy="5797259"/>
          </a:xfrm>
          <a:prstGeom prst="rect">
            <a:avLst/>
          </a:prstGeom>
        </p:spPr>
      </p:pic>
      <p:sp>
        <p:nvSpPr>
          <p:cNvPr id="6" name="TextBox 5">
            <a:extLst>
              <a:ext uri="{FF2B5EF4-FFF2-40B4-BE49-F238E27FC236}">
                <a16:creationId xmlns="" xmlns:a16="http://schemas.microsoft.com/office/drawing/2014/main" id="{A8E4F3D5-9FE1-4AE3-A087-B737AC68D2B9}"/>
              </a:ext>
            </a:extLst>
          </p:cNvPr>
          <p:cNvSpPr txBox="1"/>
          <p:nvPr/>
        </p:nvSpPr>
        <p:spPr>
          <a:xfrm>
            <a:off x="2503503" y="310718"/>
            <a:ext cx="3997913" cy="369332"/>
          </a:xfrm>
          <a:prstGeom prst="rect">
            <a:avLst/>
          </a:prstGeom>
          <a:noFill/>
        </p:spPr>
        <p:txBody>
          <a:bodyPr wrap="square" rtlCol="0">
            <a:spAutoFit/>
          </a:bodyPr>
          <a:lstStyle/>
          <a:p>
            <a:r>
              <a:rPr lang="en-US" dirty="0"/>
              <a:t>Teacher Collaboration Diagram</a:t>
            </a:r>
            <a:endParaRPr lang="en-IN" dirty="0"/>
          </a:p>
        </p:txBody>
      </p:sp>
    </p:spTree>
    <p:extLst>
      <p:ext uri="{BB962C8B-B14F-4D97-AF65-F5344CB8AC3E}">
        <p14:creationId xmlns:p14="http://schemas.microsoft.com/office/powerpoint/2010/main" xmlns="" val="2012683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EE0609C2-2A3A-4F99-9F53-638945E03346}"/>
              </a:ext>
            </a:extLst>
          </p:cNvPr>
          <p:cNvPicPr>
            <a:picLocks noChangeAspect="1"/>
          </p:cNvPicPr>
          <p:nvPr/>
        </p:nvPicPr>
        <p:blipFill>
          <a:blip r:embed="rId2"/>
          <a:stretch>
            <a:fillRect/>
          </a:stretch>
        </p:blipFill>
        <p:spPr>
          <a:xfrm>
            <a:off x="149920" y="71718"/>
            <a:ext cx="5354712" cy="6858000"/>
          </a:xfrm>
          <a:prstGeom prst="rect">
            <a:avLst/>
          </a:prstGeom>
        </p:spPr>
      </p:pic>
      <p:sp>
        <p:nvSpPr>
          <p:cNvPr id="4" name="TextBox 3">
            <a:extLst>
              <a:ext uri="{FF2B5EF4-FFF2-40B4-BE49-F238E27FC236}">
                <a16:creationId xmlns="" xmlns:a16="http://schemas.microsoft.com/office/drawing/2014/main" id="{81048B69-6E53-4641-9D50-E4E1B4D160ED}"/>
              </a:ext>
            </a:extLst>
          </p:cNvPr>
          <p:cNvSpPr txBox="1"/>
          <p:nvPr/>
        </p:nvSpPr>
        <p:spPr>
          <a:xfrm>
            <a:off x="807868" y="706296"/>
            <a:ext cx="2911876" cy="369332"/>
          </a:xfrm>
          <a:prstGeom prst="rect">
            <a:avLst/>
          </a:prstGeom>
          <a:noFill/>
        </p:spPr>
        <p:txBody>
          <a:bodyPr wrap="square" rtlCol="0">
            <a:spAutoFit/>
          </a:bodyPr>
          <a:lstStyle/>
          <a:p>
            <a:r>
              <a:rPr lang="en-US" dirty="0"/>
              <a:t>Student Activity Diagram</a:t>
            </a:r>
            <a:endParaRPr lang="en-IN" dirty="0"/>
          </a:p>
        </p:txBody>
      </p:sp>
      <p:pic>
        <p:nvPicPr>
          <p:cNvPr id="5" name="Picture 4">
            <a:extLst>
              <a:ext uri="{FF2B5EF4-FFF2-40B4-BE49-F238E27FC236}">
                <a16:creationId xmlns="" xmlns:a16="http://schemas.microsoft.com/office/drawing/2014/main" id="{C26E116E-931E-4878-943D-13512BCF797C}"/>
              </a:ext>
            </a:extLst>
          </p:cNvPr>
          <p:cNvPicPr>
            <a:picLocks noChangeAspect="1"/>
          </p:cNvPicPr>
          <p:nvPr/>
        </p:nvPicPr>
        <p:blipFill>
          <a:blip r:embed="rId3"/>
          <a:stretch>
            <a:fillRect/>
          </a:stretch>
        </p:blipFill>
        <p:spPr>
          <a:xfrm>
            <a:off x="4498799" y="71718"/>
            <a:ext cx="7693201" cy="7070865"/>
          </a:xfrm>
          <a:prstGeom prst="rect">
            <a:avLst/>
          </a:prstGeom>
        </p:spPr>
      </p:pic>
      <p:sp>
        <p:nvSpPr>
          <p:cNvPr id="6" name="TextBox 5">
            <a:extLst>
              <a:ext uri="{FF2B5EF4-FFF2-40B4-BE49-F238E27FC236}">
                <a16:creationId xmlns="" xmlns:a16="http://schemas.microsoft.com/office/drawing/2014/main" id="{F0A090BE-13D0-4E66-8AE2-97C8730316CA}"/>
              </a:ext>
            </a:extLst>
          </p:cNvPr>
          <p:cNvSpPr txBox="1"/>
          <p:nvPr/>
        </p:nvSpPr>
        <p:spPr>
          <a:xfrm>
            <a:off x="6815091" y="706296"/>
            <a:ext cx="2814222" cy="369332"/>
          </a:xfrm>
          <a:prstGeom prst="rect">
            <a:avLst/>
          </a:prstGeom>
          <a:noFill/>
        </p:spPr>
        <p:txBody>
          <a:bodyPr wrap="square" rtlCol="0">
            <a:spAutoFit/>
          </a:bodyPr>
          <a:lstStyle/>
          <a:p>
            <a:r>
              <a:rPr lang="en-US" dirty="0"/>
              <a:t>Teacher Activity Diagram</a:t>
            </a:r>
            <a:endParaRPr lang="en-IN" dirty="0"/>
          </a:p>
        </p:txBody>
      </p:sp>
    </p:spTree>
    <p:extLst>
      <p:ext uri="{BB962C8B-B14F-4D97-AF65-F5344CB8AC3E}">
        <p14:creationId xmlns:p14="http://schemas.microsoft.com/office/powerpoint/2010/main" xmlns="" val="1299870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2DD88545-DB3D-4DC3-8C02-033793E11C77}"/>
              </a:ext>
            </a:extLst>
          </p:cNvPr>
          <p:cNvPicPr>
            <a:picLocks noChangeAspect="1"/>
          </p:cNvPicPr>
          <p:nvPr/>
        </p:nvPicPr>
        <p:blipFill>
          <a:blip r:embed="rId2"/>
          <a:stretch>
            <a:fillRect/>
          </a:stretch>
        </p:blipFill>
        <p:spPr>
          <a:xfrm>
            <a:off x="67362" y="115410"/>
            <a:ext cx="11293795" cy="6858000"/>
          </a:xfrm>
          <a:prstGeom prst="rect">
            <a:avLst/>
          </a:prstGeom>
        </p:spPr>
      </p:pic>
      <p:sp>
        <p:nvSpPr>
          <p:cNvPr id="5" name="TextBox 4">
            <a:extLst>
              <a:ext uri="{FF2B5EF4-FFF2-40B4-BE49-F238E27FC236}">
                <a16:creationId xmlns="" xmlns:a16="http://schemas.microsoft.com/office/drawing/2014/main" id="{5B8A354C-EBC4-428B-97F5-DAE64129E907}"/>
              </a:ext>
            </a:extLst>
          </p:cNvPr>
          <p:cNvSpPr txBox="1"/>
          <p:nvPr/>
        </p:nvSpPr>
        <p:spPr>
          <a:xfrm>
            <a:off x="532660" y="461638"/>
            <a:ext cx="3151573" cy="646331"/>
          </a:xfrm>
          <a:prstGeom prst="rect">
            <a:avLst/>
          </a:prstGeom>
          <a:noFill/>
        </p:spPr>
        <p:txBody>
          <a:bodyPr wrap="square" rtlCol="0">
            <a:spAutoFit/>
          </a:bodyPr>
          <a:lstStyle/>
          <a:p>
            <a:r>
              <a:rPr lang="en-US" sz="3600" dirty="0"/>
              <a:t>Class Diagram</a:t>
            </a:r>
            <a:endParaRPr lang="en-IN" sz="3600" dirty="0"/>
          </a:p>
        </p:txBody>
      </p:sp>
    </p:spTree>
    <p:extLst>
      <p:ext uri="{BB962C8B-B14F-4D97-AF65-F5344CB8AC3E}">
        <p14:creationId xmlns:p14="http://schemas.microsoft.com/office/powerpoint/2010/main" xmlns="" val="2602109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02BC29BE-71B0-4E79-852A-44AC47AC54BB}"/>
              </a:ext>
            </a:extLst>
          </p:cNvPr>
          <p:cNvSpPr>
            <a:spLocks noGrp="1"/>
          </p:cNvSpPr>
          <p:nvPr>
            <p:ph type="body" idx="1"/>
          </p:nvPr>
        </p:nvSpPr>
        <p:spPr>
          <a:xfrm>
            <a:off x="746767" y="528507"/>
            <a:ext cx="4185623" cy="576262"/>
          </a:xfrm>
        </p:spPr>
        <p:txBody>
          <a:bodyPr/>
          <a:lstStyle/>
          <a:p>
            <a:r>
              <a:rPr lang="en-US" dirty="0"/>
              <a:t>Teacher Home Page</a:t>
            </a:r>
            <a:endParaRPr lang="en-IN" dirty="0"/>
          </a:p>
        </p:txBody>
      </p:sp>
      <p:pic>
        <p:nvPicPr>
          <p:cNvPr id="8" name="Content Placeholder 7">
            <a:extLst>
              <a:ext uri="{FF2B5EF4-FFF2-40B4-BE49-F238E27FC236}">
                <a16:creationId xmlns="" xmlns:a16="http://schemas.microsoft.com/office/drawing/2014/main" id="{1FB2A677-FE91-44BB-8383-70F2AB429749}"/>
              </a:ext>
            </a:extLst>
          </p:cNvPr>
          <p:cNvPicPr>
            <a:picLocks noGrp="1" noChangeAspect="1"/>
          </p:cNvPicPr>
          <p:nvPr>
            <p:ph sz="half" idx="2"/>
          </p:nvPr>
        </p:nvPicPr>
        <p:blipFill>
          <a:blip r:embed="rId2"/>
          <a:stretch>
            <a:fillRect/>
          </a:stretch>
        </p:blipFill>
        <p:spPr>
          <a:xfrm>
            <a:off x="107020" y="1804270"/>
            <a:ext cx="5094019" cy="3304117"/>
          </a:xfrm>
        </p:spPr>
      </p:pic>
      <p:sp>
        <p:nvSpPr>
          <p:cNvPr id="5" name="Text Placeholder 4">
            <a:extLst>
              <a:ext uri="{FF2B5EF4-FFF2-40B4-BE49-F238E27FC236}">
                <a16:creationId xmlns="" xmlns:a16="http://schemas.microsoft.com/office/drawing/2014/main" id="{6889A044-01AC-4A3B-BDA9-1DF11F8BA9BE}"/>
              </a:ext>
            </a:extLst>
          </p:cNvPr>
          <p:cNvSpPr>
            <a:spLocks noGrp="1"/>
          </p:cNvSpPr>
          <p:nvPr>
            <p:ph type="body" sz="quarter" idx="3"/>
          </p:nvPr>
        </p:nvSpPr>
        <p:spPr>
          <a:xfrm>
            <a:off x="6420033" y="528507"/>
            <a:ext cx="4185618" cy="576262"/>
          </a:xfrm>
        </p:spPr>
        <p:txBody>
          <a:bodyPr/>
          <a:lstStyle/>
          <a:p>
            <a:r>
              <a:rPr lang="en-US" dirty="0"/>
              <a:t>Student Home Page</a:t>
            </a:r>
            <a:endParaRPr lang="en-IN" dirty="0"/>
          </a:p>
        </p:txBody>
      </p:sp>
      <p:pic>
        <p:nvPicPr>
          <p:cNvPr id="10" name="Content Placeholder 9">
            <a:extLst>
              <a:ext uri="{FF2B5EF4-FFF2-40B4-BE49-F238E27FC236}">
                <a16:creationId xmlns="" xmlns:a16="http://schemas.microsoft.com/office/drawing/2014/main" id="{63B02F78-FAFD-49CB-99D1-59D44C65E399}"/>
              </a:ext>
            </a:extLst>
          </p:cNvPr>
          <p:cNvPicPr>
            <a:picLocks noGrp="1" noChangeAspect="1"/>
          </p:cNvPicPr>
          <p:nvPr>
            <p:ph sz="quarter" idx="4"/>
          </p:nvPr>
        </p:nvPicPr>
        <p:blipFill>
          <a:blip r:embed="rId3"/>
          <a:stretch>
            <a:fillRect/>
          </a:stretch>
        </p:blipFill>
        <p:spPr>
          <a:xfrm>
            <a:off x="5866761" y="1804270"/>
            <a:ext cx="5094018" cy="3304117"/>
          </a:xfrm>
        </p:spPr>
      </p:pic>
    </p:spTree>
    <p:extLst>
      <p:ext uri="{BB962C8B-B14F-4D97-AF65-F5344CB8AC3E}">
        <p14:creationId xmlns:p14="http://schemas.microsoft.com/office/powerpoint/2010/main" xmlns="" val="29455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DB86621E-655C-4DAA-90A4-4039E612FF34}"/>
              </a:ext>
            </a:extLst>
          </p:cNvPr>
          <p:cNvSpPr>
            <a:spLocks noGrp="1"/>
          </p:cNvSpPr>
          <p:nvPr>
            <p:ph type="body" idx="1"/>
          </p:nvPr>
        </p:nvSpPr>
        <p:spPr>
          <a:xfrm>
            <a:off x="764522" y="532216"/>
            <a:ext cx="4185623" cy="576262"/>
          </a:xfrm>
        </p:spPr>
        <p:txBody>
          <a:bodyPr/>
          <a:lstStyle/>
          <a:p>
            <a:r>
              <a:rPr lang="en-US" dirty="0"/>
              <a:t>Teacher’s Give Attendance Page</a:t>
            </a:r>
            <a:endParaRPr lang="en-IN" dirty="0"/>
          </a:p>
        </p:txBody>
      </p:sp>
      <p:pic>
        <p:nvPicPr>
          <p:cNvPr id="8" name="Content Placeholder 7">
            <a:extLst>
              <a:ext uri="{FF2B5EF4-FFF2-40B4-BE49-F238E27FC236}">
                <a16:creationId xmlns="" xmlns:a16="http://schemas.microsoft.com/office/drawing/2014/main" id="{66D79650-89E1-4BAB-825A-3B6EF8683E39}"/>
              </a:ext>
            </a:extLst>
          </p:cNvPr>
          <p:cNvPicPr>
            <a:picLocks noGrp="1" noChangeAspect="1"/>
          </p:cNvPicPr>
          <p:nvPr>
            <p:ph sz="half" idx="2"/>
          </p:nvPr>
        </p:nvPicPr>
        <p:blipFill>
          <a:blip r:embed="rId2"/>
          <a:stretch>
            <a:fillRect/>
          </a:stretch>
        </p:blipFill>
        <p:spPr>
          <a:xfrm>
            <a:off x="0" y="1509262"/>
            <a:ext cx="5893347" cy="4749496"/>
          </a:xfrm>
        </p:spPr>
      </p:pic>
      <p:sp>
        <p:nvSpPr>
          <p:cNvPr id="5" name="Text Placeholder 4">
            <a:extLst>
              <a:ext uri="{FF2B5EF4-FFF2-40B4-BE49-F238E27FC236}">
                <a16:creationId xmlns="" xmlns:a16="http://schemas.microsoft.com/office/drawing/2014/main" id="{153673EF-5F93-4071-A4A5-593965D9AD22}"/>
              </a:ext>
            </a:extLst>
          </p:cNvPr>
          <p:cNvSpPr>
            <a:spLocks noGrp="1"/>
          </p:cNvSpPr>
          <p:nvPr>
            <p:ph type="body" sz="quarter" idx="3"/>
          </p:nvPr>
        </p:nvSpPr>
        <p:spPr>
          <a:xfrm>
            <a:off x="6375647" y="532216"/>
            <a:ext cx="4185618" cy="576262"/>
          </a:xfrm>
        </p:spPr>
        <p:txBody>
          <a:bodyPr/>
          <a:lstStyle/>
          <a:p>
            <a:r>
              <a:rPr lang="en-US" dirty="0"/>
              <a:t>Student’s View Attendance Page</a:t>
            </a:r>
            <a:endParaRPr lang="en-IN" dirty="0"/>
          </a:p>
        </p:txBody>
      </p:sp>
      <p:pic>
        <p:nvPicPr>
          <p:cNvPr id="10" name="Content Placeholder 9">
            <a:extLst>
              <a:ext uri="{FF2B5EF4-FFF2-40B4-BE49-F238E27FC236}">
                <a16:creationId xmlns="" xmlns:a16="http://schemas.microsoft.com/office/drawing/2014/main" id="{FFB90063-C702-4618-AB3D-C74A2650F782}"/>
              </a:ext>
            </a:extLst>
          </p:cNvPr>
          <p:cNvPicPr>
            <a:picLocks noGrp="1" noChangeAspect="1"/>
          </p:cNvPicPr>
          <p:nvPr>
            <p:ph sz="quarter" idx="4"/>
          </p:nvPr>
        </p:nvPicPr>
        <p:blipFill>
          <a:blip r:embed="rId3"/>
          <a:stretch>
            <a:fillRect/>
          </a:stretch>
        </p:blipFill>
        <p:spPr>
          <a:xfrm>
            <a:off x="6294268" y="1491507"/>
            <a:ext cx="5893347" cy="4749496"/>
          </a:xfrm>
        </p:spPr>
      </p:pic>
    </p:spTree>
    <p:extLst>
      <p:ext uri="{BB962C8B-B14F-4D97-AF65-F5344CB8AC3E}">
        <p14:creationId xmlns:p14="http://schemas.microsoft.com/office/powerpoint/2010/main" xmlns="" val="4057271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C9F8BBFF-7E56-4B34-8BE6-5A633873F846}"/>
              </a:ext>
            </a:extLst>
          </p:cNvPr>
          <p:cNvSpPr>
            <a:spLocks noGrp="1"/>
          </p:cNvSpPr>
          <p:nvPr>
            <p:ph type="body" idx="1"/>
          </p:nvPr>
        </p:nvSpPr>
        <p:spPr>
          <a:xfrm>
            <a:off x="675745" y="240376"/>
            <a:ext cx="4185623" cy="576262"/>
          </a:xfrm>
        </p:spPr>
        <p:txBody>
          <a:bodyPr/>
          <a:lstStyle/>
          <a:p>
            <a:r>
              <a:rPr lang="en-US" dirty="0"/>
              <a:t>Teacher Enter Marks</a:t>
            </a:r>
            <a:endParaRPr lang="en-IN" dirty="0"/>
          </a:p>
        </p:txBody>
      </p:sp>
      <p:pic>
        <p:nvPicPr>
          <p:cNvPr id="8" name="Content Placeholder 7">
            <a:extLst>
              <a:ext uri="{FF2B5EF4-FFF2-40B4-BE49-F238E27FC236}">
                <a16:creationId xmlns="" xmlns:a16="http://schemas.microsoft.com/office/drawing/2014/main" id="{D99A70E1-3D67-45FF-8400-8F21EFA4F64D}"/>
              </a:ext>
            </a:extLst>
          </p:cNvPr>
          <p:cNvPicPr>
            <a:picLocks noGrp="1" noChangeAspect="1"/>
          </p:cNvPicPr>
          <p:nvPr>
            <p:ph sz="half" idx="2"/>
          </p:nvPr>
        </p:nvPicPr>
        <p:blipFill>
          <a:blip r:embed="rId2"/>
          <a:stretch>
            <a:fillRect/>
          </a:stretch>
        </p:blipFill>
        <p:spPr>
          <a:xfrm>
            <a:off x="-1" y="1474631"/>
            <a:ext cx="5364393" cy="3186144"/>
          </a:xfrm>
        </p:spPr>
      </p:pic>
      <p:sp>
        <p:nvSpPr>
          <p:cNvPr id="5" name="Text Placeholder 4">
            <a:extLst>
              <a:ext uri="{FF2B5EF4-FFF2-40B4-BE49-F238E27FC236}">
                <a16:creationId xmlns="" xmlns:a16="http://schemas.microsoft.com/office/drawing/2014/main" id="{C581774D-A610-422C-A3C1-4205FF41C258}"/>
              </a:ext>
            </a:extLst>
          </p:cNvPr>
          <p:cNvSpPr>
            <a:spLocks noGrp="1"/>
          </p:cNvSpPr>
          <p:nvPr>
            <p:ph type="body" sz="quarter" idx="3"/>
          </p:nvPr>
        </p:nvSpPr>
        <p:spPr>
          <a:xfrm>
            <a:off x="6339737" y="240376"/>
            <a:ext cx="4185618" cy="576262"/>
          </a:xfrm>
        </p:spPr>
        <p:txBody>
          <a:bodyPr/>
          <a:lstStyle/>
          <a:p>
            <a:r>
              <a:rPr lang="en-US" dirty="0"/>
              <a:t>Student View Marks</a:t>
            </a:r>
            <a:endParaRPr lang="en-IN" dirty="0"/>
          </a:p>
        </p:txBody>
      </p:sp>
      <p:pic>
        <p:nvPicPr>
          <p:cNvPr id="10" name="Content Placeholder 9">
            <a:extLst>
              <a:ext uri="{FF2B5EF4-FFF2-40B4-BE49-F238E27FC236}">
                <a16:creationId xmlns="" xmlns:a16="http://schemas.microsoft.com/office/drawing/2014/main" id="{54BE83AF-99EC-427F-8378-2B0AF9C35B57}"/>
              </a:ext>
            </a:extLst>
          </p:cNvPr>
          <p:cNvPicPr>
            <a:picLocks noGrp="1" noChangeAspect="1"/>
          </p:cNvPicPr>
          <p:nvPr>
            <p:ph sz="quarter" idx="4"/>
          </p:nvPr>
        </p:nvPicPr>
        <p:blipFill>
          <a:blip r:embed="rId3"/>
          <a:stretch>
            <a:fillRect/>
          </a:stretch>
        </p:blipFill>
        <p:spPr>
          <a:xfrm>
            <a:off x="5851466" y="1474631"/>
            <a:ext cx="5664259" cy="3186145"/>
          </a:xfrm>
        </p:spPr>
      </p:pic>
    </p:spTree>
    <p:extLst>
      <p:ext uri="{BB962C8B-B14F-4D97-AF65-F5344CB8AC3E}">
        <p14:creationId xmlns:p14="http://schemas.microsoft.com/office/powerpoint/2010/main" xmlns="" val="385005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FE3E070E-04F8-420F-AB81-1B24187513D9}"/>
              </a:ext>
            </a:extLst>
          </p:cNvPr>
          <p:cNvSpPr>
            <a:spLocks noGrp="1"/>
          </p:cNvSpPr>
          <p:nvPr>
            <p:ph type="body" idx="1"/>
          </p:nvPr>
        </p:nvSpPr>
        <p:spPr>
          <a:xfrm>
            <a:off x="640233" y="1104769"/>
            <a:ext cx="4185623" cy="576262"/>
          </a:xfrm>
        </p:spPr>
        <p:txBody>
          <a:bodyPr/>
          <a:lstStyle/>
          <a:p>
            <a:r>
              <a:rPr lang="en-US" dirty="0"/>
              <a:t>Teacher Generate Reports </a:t>
            </a:r>
            <a:endParaRPr lang="en-IN" dirty="0"/>
          </a:p>
        </p:txBody>
      </p:sp>
      <p:pic>
        <p:nvPicPr>
          <p:cNvPr id="8" name="Content Placeholder 7">
            <a:extLst>
              <a:ext uri="{FF2B5EF4-FFF2-40B4-BE49-F238E27FC236}">
                <a16:creationId xmlns="" xmlns:a16="http://schemas.microsoft.com/office/drawing/2014/main" id="{DDF0C27F-5831-492B-9555-8981A2C1AA0E}"/>
              </a:ext>
            </a:extLst>
          </p:cNvPr>
          <p:cNvPicPr>
            <a:picLocks noGrp="1" noChangeAspect="1"/>
          </p:cNvPicPr>
          <p:nvPr>
            <p:ph sz="half" idx="2"/>
          </p:nvPr>
        </p:nvPicPr>
        <p:blipFill>
          <a:blip r:embed="rId2"/>
          <a:stretch>
            <a:fillRect/>
          </a:stretch>
        </p:blipFill>
        <p:spPr>
          <a:xfrm>
            <a:off x="-1" y="1970085"/>
            <a:ext cx="5299967" cy="2917830"/>
          </a:xfrm>
        </p:spPr>
      </p:pic>
      <p:sp>
        <p:nvSpPr>
          <p:cNvPr id="5" name="Text Placeholder 4">
            <a:extLst>
              <a:ext uri="{FF2B5EF4-FFF2-40B4-BE49-F238E27FC236}">
                <a16:creationId xmlns="" xmlns:a16="http://schemas.microsoft.com/office/drawing/2014/main" id="{1078A1DB-D9D7-450E-B1CC-2AC25F829CFA}"/>
              </a:ext>
            </a:extLst>
          </p:cNvPr>
          <p:cNvSpPr>
            <a:spLocks noGrp="1"/>
          </p:cNvSpPr>
          <p:nvPr>
            <p:ph type="body" sz="quarter" idx="3"/>
          </p:nvPr>
        </p:nvSpPr>
        <p:spPr>
          <a:xfrm>
            <a:off x="6711518" y="1104769"/>
            <a:ext cx="4185618" cy="576262"/>
          </a:xfrm>
        </p:spPr>
        <p:txBody>
          <a:bodyPr/>
          <a:lstStyle/>
          <a:p>
            <a:r>
              <a:rPr lang="en-US" dirty="0"/>
              <a:t>Student View Reports</a:t>
            </a:r>
            <a:endParaRPr lang="en-IN" dirty="0"/>
          </a:p>
        </p:txBody>
      </p:sp>
      <p:pic>
        <p:nvPicPr>
          <p:cNvPr id="10" name="Content Placeholder 9">
            <a:extLst>
              <a:ext uri="{FF2B5EF4-FFF2-40B4-BE49-F238E27FC236}">
                <a16:creationId xmlns="" xmlns:a16="http://schemas.microsoft.com/office/drawing/2014/main" id="{B60A6F04-0647-4090-9B06-F2667C0FEC54}"/>
              </a:ext>
            </a:extLst>
          </p:cNvPr>
          <p:cNvPicPr>
            <a:picLocks noGrp="1" noChangeAspect="1"/>
          </p:cNvPicPr>
          <p:nvPr>
            <p:ph sz="quarter" idx="4"/>
          </p:nvPr>
        </p:nvPicPr>
        <p:blipFill>
          <a:blip r:embed="rId3"/>
          <a:stretch>
            <a:fillRect/>
          </a:stretch>
        </p:blipFill>
        <p:spPr>
          <a:xfrm>
            <a:off x="6711518" y="1970084"/>
            <a:ext cx="5480483" cy="2917830"/>
          </a:xfrm>
        </p:spPr>
      </p:pic>
    </p:spTree>
    <p:extLst>
      <p:ext uri="{BB962C8B-B14F-4D97-AF65-F5344CB8AC3E}">
        <p14:creationId xmlns:p14="http://schemas.microsoft.com/office/powerpoint/2010/main" xmlns="" val="3373415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47242B96-9EAE-4559-92F5-C23E11BEBBD2}"/>
              </a:ext>
            </a:extLst>
          </p:cNvPr>
          <p:cNvSpPr>
            <a:spLocks noGrp="1"/>
          </p:cNvSpPr>
          <p:nvPr>
            <p:ph type="body" idx="1"/>
          </p:nvPr>
        </p:nvSpPr>
        <p:spPr>
          <a:xfrm>
            <a:off x="761473" y="1078586"/>
            <a:ext cx="4185623" cy="576262"/>
          </a:xfrm>
        </p:spPr>
        <p:txBody>
          <a:bodyPr/>
          <a:lstStyle/>
          <a:p>
            <a:r>
              <a:rPr lang="en-US" dirty="0"/>
              <a:t>Teacher Time Table</a:t>
            </a:r>
            <a:endParaRPr lang="en-IN" dirty="0"/>
          </a:p>
        </p:txBody>
      </p:sp>
      <p:pic>
        <p:nvPicPr>
          <p:cNvPr id="8" name="Content Placeholder 7">
            <a:extLst>
              <a:ext uri="{FF2B5EF4-FFF2-40B4-BE49-F238E27FC236}">
                <a16:creationId xmlns="" xmlns:a16="http://schemas.microsoft.com/office/drawing/2014/main" id="{DFD88F20-4659-4D44-AF03-D4B457186A8E}"/>
              </a:ext>
            </a:extLst>
          </p:cNvPr>
          <p:cNvPicPr>
            <a:picLocks noGrp="1" noChangeAspect="1"/>
          </p:cNvPicPr>
          <p:nvPr>
            <p:ph sz="half" idx="2"/>
          </p:nvPr>
        </p:nvPicPr>
        <p:blipFill>
          <a:blip r:embed="rId2"/>
          <a:stretch>
            <a:fillRect/>
          </a:stretch>
        </p:blipFill>
        <p:spPr>
          <a:xfrm>
            <a:off x="0" y="1893590"/>
            <a:ext cx="5708570" cy="3211070"/>
          </a:xfrm>
        </p:spPr>
      </p:pic>
      <p:sp>
        <p:nvSpPr>
          <p:cNvPr id="5" name="Text Placeholder 4">
            <a:extLst>
              <a:ext uri="{FF2B5EF4-FFF2-40B4-BE49-F238E27FC236}">
                <a16:creationId xmlns="" xmlns:a16="http://schemas.microsoft.com/office/drawing/2014/main" id="{E2AE3158-8AF3-4FB9-A720-A21695040475}"/>
              </a:ext>
            </a:extLst>
          </p:cNvPr>
          <p:cNvSpPr>
            <a:spLocks noGrp="1"/>
          </p:cNvSpPr>
          <p:nvPr>
            <p:ph type="body" sz="quarter" idx="3"/>
          </p:nvPr>
        </p:nvSpPr>
        <p:spPr>
          <a:xfrm>
            <a:off x="6187736" y="1078586"/>
            <a:ext cx="4185618" cy="576262"/>
          </a:xfrm>
        </p:spPr>
        <p:txBody>
          <a:bodyPr/>
          <a:lstStyle/>
          <a:p>
            <a:r>
              <a:rPr lang="en-US" dirty="0"/>
              <a:t>Student View Time Table</a:t>
            </a:r>
            <a:endParaRPr lang="en-IN" dirty="0"/>
          </a:p>
        </p:txBody>
      </p:sp>
      <p:pic>
        <p:nvPicPr>
          <p:cNvPr id="10" name="Content Placeholder 9">
            <a:extLst>
              <a:ext uri="{FF2B5EF4-FFF2-40B4-BE49-F238E27FC236}">
                <a16:creationId xmlns="" xmlns:a16="http://schemas.microsoft.com/office/drawing/2014/main" id="{CFCE1C1C-1B16-4366-8B36-7A14B5A9E342}"/>
              </a:ext>
            </a:extLst>
          </p:cNvPr>
          <p:cNvPicPr>
            <a:picLocks noGrp="1" noChangeAspect="1"/>
          </p:cNvPicPr>
          <p:nvPr>
            <p:ph sz="quarter" idx="4"/>
          </p:nvPr>
        </p:nvPicPr>
        <p:blipFill>
          <a:blip r:embed="rId3"/>
          <a:stretch>
            <a:fillRect/>
          </a:stretch>
        </p:blipFill>
        <p:spPr>
          <a:xfrm>
            <a:off x="6187736" y="1893590"/>
            <a:ext cx="6004264" cy="3211070"/>
          </a:xfrm>
        </p:spPr>
      </p:pic>
    </p:spTree>
    <p:extLst>
      <p:ext uri="{BB962C8B-B14F-4D97-AF65-F5344CB8AC3E}">
        <p14:creationId xmlns:p14="http://schemas.microsoft.com/office/powerpoint/2010/main" xmlns="" val="225237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F2B36108-FC51-436F-A612-304B2F59DE29}"/>
              </a:ext>
            </a:extLst>
          </p:cNvPr>
          <p:cNvSpPr>
            <a:spLocks noGrp="1"/>
          </p:cNvSpPr>
          <p:nvPr>
            <p:ph type="body" idx="1"/>
          </p:nvPr>
        </p:nvSpPr>
        <p:spPr>
          <a:xfrm>
            <a:off x="3391270" y="794501"/>
            <a:ext cx="4185623" cy="576262"/>
          </a:xfrm>
        </p:spPr>
        <p:txBody>
          <a:bodyPr/>
          <a:lstStyle/>
          <a:p>
            <a:r>
              <a:rPr lang="en-US" dirty="0"/>
              <a:t>Student Give Attendance Page(Facial Recognition Page)</a:t>
            </a:r>
            <a:endParaRPr lang="en-IN" dirty="0"/>
          </a:p>
        </p:txBody>
      </p:sp>
      <p:pic>
        <p:nvPicPr>
          <p:cNvPr id="8" name="Content Placeholder 7">
            <a:extLst>
              <a:ext uri="{FF2B5EF4-FFF2-40B4-BE49-F238E27FC236}">
                <a16:creationId xmlns="" xmlns:a16="http://schemas.microsoft.com/office/drawing/2014/main" id="{9DEF07A9-6C6B-46E9-87E2-AC4B35352F5B}"/>
              </a:ext>
            </a:extLst>
          </p:cNvPr>
          <p:cNvPicPr>
            <a:picLocks noGrp="1" noChangeAspect="1"/>
          </p:cNvPicPr>
          <p:nvPr>
            <p:ph sz="half" idx="2"/>
          </p:nvPr>
        </p:nvPicPr>
        <p:blipFill>
          <a:blip r:embed="rId2"/>
          <a:stretch>
            <a:fillRect/>
          </a:stretch>
        </p:blipFill>
        <p:spPr>
          <a:xfrm>
            <a:off x="1554655" y="1604759"/>
            <a:ext cx="8100168" cy="4556343"/>
          </a:xfrm>
        </p:spPr>
      </p:pic>
    </p:spTree>
    <p:extLst>
      <p:ext uri="{BB962C8B-B14F-4D97-AF65-F5344CB8AC3E}">
        <p14:creationId xmlns:p14="http://schemas.microsoft.com/office/powerpoint/2010/main" xmlns="" val="1447971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899989FB-B0ED-453A-80AA-47871187BDE0}"/>
              </a:ext>
            </a:extLst>
          </p:cNvPr>
          <p:cNvSpPr/>
          <p:nvPr/>
        </p:nvSpPr>
        <p:spPr>
          <a:xfrm>
            <a:off x="2134644" y="2303947"/>
            <a:ext cx="5983754" cy="4154984"/>
          </a:xfrm>
          <a:prstGeom prst="rect">
            <a:avLst/>
          </a:prstGeom>
          <a:noFill/>
        </p:spPr>
        <p:txBody>
          <a:bodyPr wrap="none" lIns="91440" tIns="45720" rIns="91440" bIns="45720">
            <a:spAutoFit/>
          </a:bodyPr>
          <a:lstStyle/>
          <a:p>
            <a:pPr algn="ctr"/>
            <a:r>
              <a:rPr lang="en-US" sz="8800" b="1" cap="none" spc="0" dirty="0">
                <a:ln w="12700">
                  <a:solidFill>
                    <a:schemeClr val="accent5"/>
                  </a:solidFill>
                  <a:prstDash val="solid"/>
                </a:ln>
                <a:pattFill prst="ltDnDiag">
                  <a:fgClr>
                    <a:schemeClr val="accent5">
                      <a:lumMod val="60000"/>
                      <a:lumOff val="40000"/>
                    </a:schemeClr>
                  </a:fgClr>
                  <a:bgClr>
                    <a:schemeClr val="bg1"/>
                  </a:bgClr>
                </a:pattFill>
                <a:effectLst/>
              </a:rPr>
              <a:t>Thank You </a:t>
            </a:r>
          </a:p>
          <a:p>
            <a:pPr algn="ctr"/>
            <a:endParaRPr lang="en-US" sz="8800" b="1" dirty="0">
              <a:ln w="12700">
                <a:solidFill>
                  <a:schemeClr val="accent5"/>
                </a:solidFill>
                <a:prstDash val="solid"/>
              </a:ln>
              <a:pattFill prst="ltDnDiag">
                <a:fgClr>
                  <a:schemeClr val="accent5">
                    <a:lumMod val="60000"/>
                    <a:lumOff val="40000"/>
                  </a:schemeClr>
                </a:fgClr>
                <a:bgClr>
                  <a:schemeClr val="bg1"/>
                </a:bgClr>
              </a:pattFill>
            </a:endParaRPr>
          </a:p>
          <a:p>
            <a:pPr algn="ctr"/>
            <a:endParaRPr lang="en-US" sz="8800" b="1" cap="none" spc="0" dirty="0">
              <a:ln w="12700">
                <a:solidFill>
                  <a:schemeClr val="accent5"/>
                </a:solidFill>
                <a:prstDash val="solid"/>
              </a:ln>
              <a:pattFill prst="ltDnDiag">
                <a:fgClr>
                  <a:schemeClr val="accent5">
                    <a:lumMod val="60000"/>
                    <a:lumOff val="40000"/>
                  </a:schemeClr>
                </a:fgClr>
                <a:bgClr>
                  <a:schemeClr val="bg1"/>
                </a:bgClr>
              </a:pattFill>
              <a:effectLst/>
            </a:endParaRPr>
          </a:p>
        </p:txBody>
      </p:sp>
    </p:spTree>
    <p:extLst>
      <p:ext uri="{BB962C8B-B14F-4D97-AF65-F5344CB8AC3E}">
        <p14:creationId xmlns:p14="http://schemas.microsoft.com/office/powerpoint/2010/main" xmlns="" val="25480487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CDB58277-F8DF-46FF-84EC-EF41B835E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1161</TotalTime>
  <Words>717</Words>
  <Application>Microsoft Office PowerPoint</Application>
  <PresentationFormat>Custom</PresentationFormat>
  <Paragraphs>232</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Facet</vt:lpstr>
      <vt:lpstr>P.B SIDDHARTHA COLLEGE OF ARTS AND SCIENCE DEPEARTMENT OF COMPUTER SCIENCE</vt:lpstr>
      <vt:lpstr>SMART ATTENDANCE MANAGEMENT SYSTEM</vt:lpstr>
      <vt:lpstr>                   PROJECT PRESENTATION     SMART ATTENDANCE MANAGEMENT SYSTEM</vt:lpstr>
      <vt:lpstr>Contents</vt:lpstr>
      <vt:lpstr>Slide 5</vt:lpstr>
      <vt:lpstr>Slide 6</vt:lpstr>
      <vt:lpstr>Slide 7</vt:lpstr>
      <vt:lpstr>SRS: Software Requirement Specification</vt:lpstr>
      <vt:lpstr>Slide 9</vt:lpstr>
      <vt:lpstr>System Analysis  </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attendance management system</dc:title>
  <dc:creator>vara prasad</dc:creator>
  <cp:lastModifiedBy>User</cp:lastModifiedBy>
  <cp:revision>36</cp:revision>
  <dcterms:created xsi:type="dcterms:W3CDTF">2021-07-20T14:55:31Z</dcterms:created>
  <dcterms:modified xsi:type="dcterms:W3CDTF">2022-05-12T16:52:51Z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